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Zianne. Suggested duration: 45 seconds.
Good day, everyone. We are Zianne B. Pontanar and Daniel D. Pacundo, the co-founders of PrintConnect. For our Event-Driven Programming final project, we transformed the business idea from our Business Analytics feasibility study into a functional website. The site is made for students who want to estimate the cost of printing academic documents without leaving campus just to ask for a price. Today we will explain the problem, introduce the pages and business process, demonstrate the website, and explain the important code and PyScript events. We will also identify which parts were assigned to each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Zianne. Suggested duration: 45 seconds.
We started by studying the students’ printing habits. In our survey with 35 respondents, 33 students, or 94.3 percent, said they usually print at shops outside the campus. Thirty-four of the 35, or 97.1 percent, identified high prices as a frustration. All 35 respondents said they were likely or very likely to use an on-campus printing service. These results describe only our surveyed group, but they helped us identify a real problem to address. PrintConnect aims to reduce unnecessary trips, make expected charges transparent, and give students a simpler way to plan their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Zianne. Suggested duration: 39 seconds.
Our proposed business is an on-campus printing station that focuses on affordable and accessible services. The main services include black-and-white printing, colored printing, photocopying, scanning, and possible basic formatting assistance. Our website supports the business by introducing these services and allowing a student to calculate a quote. We use two pesos per black-and-white page and five pesos per colored page because those are the rates in our final financial feasibility model. This is a school project prototype, so we do not claim that a real kiosk is currently operating or that the website takes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Zianne. Suggested duration: 44 seconds.
We decided to keep the technology stack intentionally simple. HTML gives the pages their structure, and CSS handles the visual design and mobile layout. We used a very small amount of ordinary JavaScript only for the mobile navigation menu. The required business functionality comes from Python running through PyScript in the browser. We separated the pricing formula into a pure Python file so it can be tested independently. There is no database, backend server, sign-in, or payment gateway because the site only needs to demonstrate how a print estimate works. That lets us focus clearly on the event-driven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Zianne. Suggested duration: 43 seconds.
Here is the structure of our website. There are five pages. The Home page introduces PrintConnect, highlights prices, and invites users to estimate their print costs. The Services page explains black-and-white printing, colored printing, photocopying, and scanning. The Get a Quote page contains our main interactive calculator. How It Works explains the proposed business process and answers common questions. Finally, the About page lists the two co-founders and summarizes important survey findings. We kept the navigation consistent throughout the website so that a visitor can move between these pages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Zianne. Suggested duration: 37 seconds.
This is the Home page. The first section introduces PrintConnect with our name, logo, and the main message: print smart and stay on campus. We display the per-page printing rates and give students a clear button to calculate their printing cost. Further down the page are service cards and a short explanation of the process. In the recorded demo, I will click the buttons and show that they lead to the correct pages. The purpose is to make the website understandable even to someone using it for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Zianne. Suggested duration: 37 seconds.
On the Services page, we show the two primary printing types and their rates. We also list photocopying, scanning, and formatting as proposed kiosk services. We do not invent separate prices for those because the study did not finalize them. On the About page, we introduce both founders, Zianne B. Pontanar and Daniel D. Pacundo. We also explain why we made the business and show supporting survey statistics. This page gives the website an identity and connects our programming project to the business concept used in our earlier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Zianne. Suggested duration: 52 seconds.
This slide shows an actual excerpt of the source code for our About page. For my assigned portion, I worked on structuring the website and presenting business information clearly. Here, the HTML uses article elements for founder cards, headings for the founders’ names, and descriptive text for each role. There are two separate founder cards so both group members are equally represented. Organizing the page into semantic elements makes it easier to style and maintain. I also connected the pages through shared navigation links and maintained a consistent website header and footer. The screenshot comes from the actual project file, not a mock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Zianne. Suggested duration: 55 seconds.
My second main contribution is the CSS. This source screenshot shows selectors for grids, service cards, the navigation menu, and responsive layouts. On large screens, cards can appear in two or three columns. On smaller screens, media queries change them to a single column so the content does not overflow. I also styled the print calculator form, buttons, service cards, and founder cards. The mobile screenshot on the right illustrates how the layout looks on a narrow screen. For the phone navigation, a small JavaScript click listener opens and closes the menu, but our core printing logic is still written with PyScript, as the instructor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Daniel. Suggested duration: 34 seconds.
Now I will explain the interaction and Python side of the project. This is the part where the website becomes more than a static business brochure. Event-driven programming means that the program responds to actions instead of simply running all calculations once. For example, when a student changes a number or selects a different printing type, the browser triggers an event. PyScript calls the corresponding Python function, the function recalculates the price, and then the website updates the displayed total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Daniel. Suggested duration: 55 seconds.
This is the main interactive page. For the demonstration, I will open Get a Quote and wait for the label that says PyScript ready. Then I will choose colored printing, enter five pages, and set two copies. The price per colored page is five pesos, so five multiplied by two multiplied by five is fifty pesos. The cost estimate should update immediately. I will also choose a local reference document so the selected filename appears on the screen. However, the document is never actually uploaded. When I enter a name and generate a quote, the page displays a local summary rather than sending a real print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Daniel. Suggested duration: 43 seconds.
This diagram summarizes how event-driven programming happens. First, the user performs an action, such as entering a new number or changing the printing type. Second, the browser sends the appropriate event, and the PyScript when decorator identifies which Python function should run. Third, our program reads the input, checks that it is valid, and calculates the price. Finally, Python changes the text of elements already on the webpage through the document object model. For example, choosing color printing changes the rate from two pesos to five pesos and updates the estimated total without needing to reload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Daniel. Suggested duration: 55 seconds.
This is the pricing module that I am responsible for explaining. The program uses a dictionary named PRICES with two valid services: black-and-white at two pesos and color at five pesos per page. The calculate_total function receives a service, number of pages, and number of copies. It validates that the service is supported, that pages range from one to five hundred, and that copies range from one to ninety-nine. If any input is invalid, it raises a ValueError. Otherwise, the function multiplies the price per page, the number of pages, and the number of copies. We keep this file independent from the webpage so we can test the calculation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Daniel. Suggested duration: 56 seconds.
The next screenshot is a real excerpt of the PyScript event code. I used the when decorator to listen for input events on the pages and copies fields and for change events on the service dropdown. These events call the function that updates the quote. It reads the latest values, uses the pricing module, and writes the new numbers into the summary area using textContent. There is also a change handler for the document selector. It only reads and displays the filename of the chosen local file. It does not read the document contents or upload the file. This shows how the interface reacts immediately to user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Daniel. Suggested duration: 54 seconds.
Here is the event handler for the form submission. First, event.preventDefault stops the browser from sending the form to another page. Then Python checks that the student entered a name and that the print details are valid. When the entries pass validation, it builds a text summary and displays it in the order preview panel. The panel is a demonstration quotation only; there is no database and no real order is submitted. If the values are invalid, the user sees an error message instead of an incorrect price. We also listen for a click on Clear Form, which resets the fields, hides the old preview, and restores the default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Daniel. Suggested duration: 45 seconds.
We checked the pure Python pricing calculations using automated unit tests. For example, eight black-and-white pages with two copies should cost thirty-two pesos, and three colored pages with four copies should cost sixty pesos. We also tested invalid zero and very large counts, unsupported services, and the currency formatter. All five test cases passed. We should also run the site in a normal browser and demonstrate that PyScript loads and handles real user events; those runtime interactions are not replaced by the Python unit tests. During our recording, we will show the interactive quotation page and confirm the changing prices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Zianne + Daniel. Suggested duration: 50 seconds.
Zianne: For the individual contributions, my assigned responsibility is the visual frontend. This includes the page structure, styling, navigation, responsiveness, and founder profiles. The previous code screenshots came from my assigned files. Daniel: My assigned responsibility is the interactive quotation form, PyScript event listeners, calculation logic, validation, and Python test cases. The code screenshots show those parts as well. We also need to demonstrate our own real activity on GitHub. After reviewing the supplied project, we will each use our own GitHub accounts to contribute meaningful work and commits, add both people as collaborators, and include our recorded video. Our actual commit history must match our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Both. Suggested duration: 31 seconds.
Zianne: To conclude, PrintConnect turns the results of our business feasibility study into a practical website concept for students. It introduces services clearly and makes the cost of printing easier to understand. Daniel: For Event-Driven Programming, the main achievement is the interactive PyScript calculator, where the site reacts to input, change, submit, and click events. We intentionally used a simple stack with no database because this meets the project scope without unnecessary complexity. Both: Thank you for watching our presentation. We are Zianne B. Pontanar and Daniel D. Pacundo, the founders of PrintConnect.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630"/>
        </a:solidFill>
      </p:bgPr>
    </p:bg>
    <p:spTree>
      <p:nvGrpSpPr>
        <p:cNvPr id="1" name=""/>
        <p:cNvGrpSpPr/>
        <p:nvPr/>
      </p:nvGrpSpPr>
      <p:grpSpPr>
        <a:xfrm>
          <a:off x="0" y="0"/>
          <a:ext cx="0" cy="0"/>
          <a:chOff x="0" y="0"/>
          <a:chExt cx="0" cy="0"/>
        </a:xfrm>
      </p:grpSpPr>
      <p:sp>
        <p:nvSpPr>
          <p:cNvPr id="2" name="Shape 0"/>
          <p:cNvSpPr/>
          <p:nvPr/>
        </p:nvSpPr>
        <p:spPr>
          <a:xfrm>
            <a:off x="7406640" y="0"/>
            <a:ext cx="4785055" cy="6858000"/>
          </a:xfrm>
          <a:prstGeom prst="rect">
            <a:avLst/>
          </a:prstGeom>
          <a:solidFill>
            <a:srgbClr val="17434A"/>
          </a:solidFill>
          <a:ln w="8890">
            <a:solidFill>
              <a:srgbClr val="17434A">
                <a:alpha val="0"/>
              </a:srgbClr>
            </a:solidFill>
            <a:prstDash val="solid"/>
          </a:ln>
        </p:spPr>
      </p:sp>
      <p:pic>
        <p:nvPicPr>
          <p:cNvPr id="3" name="Image 0" descr="/mnt/data/PrintConnect_EVD/presentation_assets/website_index.png">    </p:cNvPr>
          <p:cNvPicPr>
            <a:picLocks noChangeAspect="1"/>
          </p:cNvPicPr>
          <p:nvPr/>
        </p:nvPicPr>
        <p:blipFill>
          <a:blip r:embed="rId1"/>
          <a:stretch>
            <a:fillRect/>
          </a:stretch>
        </p:blipFill>
        <p:spPr>
          <a:xfrm>
            <a:off x="7132320" y="1508760"/>
            <a:ext cx="4846320" cy="3063240"/>
          </a:xfrm>
          <a:prstGeom prst="rect">
            <a:avLst/>
          </a:prstGeom>
        </p:spPr>
      </p:pic>
      <p:sp>
        <p:nvSpPr>
          <p:cNvPr id="4" name="Text 1"/>
          <p:cNvSpPr/>
          <p:nvPr/>
        </p:nvSpPr>
        <p:spPr>
          <a:xfrm>
            <a:off x="704088" y="740664"/>
            <a:ext cx="6858000" cy="320040"/>
          </a:xfrm>
          <a:prstGeom prst="rect">
            <a:avLst/>
          </a:prstGeom>
          <a:noFill/>
          <a:ln/>
        </p:spPr>
        <p:txBody>
          <a:bodyPr wrap="square" lIns="0" tIns="0" rIns="0" bIns="0" rtlCol="0" anchor="ctr">
            <a:normAutofit/>
          </a:bodyPr>
          <a:lstStyle/>
          <a:p>
            <a:pPr indent="0" marL="0">
              <a:buNone/>
            </a:pPr>
            <a:r>
              <a:rPr lang="en-US" sz="1300" b="1" spc="170" kern="0" dirty="0">
                <a:solidFill>
                  <a:srgbClr val="7BE6CA"/>
                </a:solidFill>
                <a:latin typeface="Aptos" pitchFamily="34" charset="0"/>
                <a:ea typeface="Aptos" pitchFamily="34" charset="-122"/>
                <a:cs typeface="Aptos" pitchFamily="34" charset="-120"/>
              </a:rPr>
              <a:t>EVENT-DRIVEN PROGRAMMING • FINAL PROJECT</a:t>
            </a:r>
            <a:endParaRPr lang="en-US" sz="1300" dirty="0"/>
          </a:p>
        </p:txBody>
      </p:sp>
      <p:sp>
        <p:nvSpPr>
          <p:cNvPr id="5" name="Text 2"/>
          <p:cNvSpPr/>
          <p:nvPr/>
        </p:nvSpPr>
        <p:spPr>
          <a:xfrm>
            <a:off x="676656" y="1481328"/>
            <a:ext cx="6080760" cy="2057400"/>
          </a:xfrm>
          <a:prstGeom prst="rect">
            <a:avLst/>
          </a:prstGeom>
          <a:noFill/>
          <a:ln/>
        </p:spPr>
        <p:txBody>
          <a:bodyPr wrap="square" lIns="0" tIns="0" rIns="0" bIns="0" rtlCol="0" anchor="ctr">
            <a:normAutofit/>
          </a:bodyPr>
          <a:lstStyle/>
          <a:p>
            <a:pPr indent="0" marL="0">
              <a:lnSpc>
                <a:spcPct val="90000"/>
              </a:lnSpc>
              <a:buNone/>
            </a:pPr>
            <a:r>
              <a:rPr lang="en-US" sz="6200" b="1" dirty="0">
                <a:solidFill>
                  <a:srgbClr val="FFFFFF"/>
                </a:solidFill>
                <a:latin typeface="Aptos" pitchFamily="34" charset="0"/>
                <a:ea typeface="Aptos" pitchFamily="34" charset="-122"/>
                <a:cs typeface="Aptos" pitchFamily="34" charset="-120"/>
              </a:rPr>
              <a:t>PRINT</a:t>
            </a:r>
            <a:endParaRPr lang="en-US" sz="6200" dirty="0"/>
          </a:p>
          <a:p>
            <a:pPr indent="0" marL="0">
              <a:lnSpc>
                <a:spcPct val="90000"/>
              </a:lnSpc>
              <a:buNone/>
            </a:pPr>
            <a:r>
              <a:rPr lang="en-US" sz="6200" b="1" dirty="0">
                <a:solidFill>
                  <a:srgbClr val="FFFFFF"/>
                </a:solidFill>
                <a:latin typeface="Aptos" pitchFamily="34" charset="0"/>
                <a:ea typeface="Aptos" pitchFamily="34" charset="-122"/>
                <a:cs typeface="Aptos" pitchFamily="34" charset="-120"/>
              </a:rPr>
              <a:t>CONNECT</a:t>
            </a:r>
            <a:endParaRPr lang="en-US" sz="6200" dirty="0"/>
          </a:p>
        </p:txBody>
      </p:sp>
      <p:sp>
        <p:nvSpPr>
          <p:cNvPr id="6" name="Text 3"/>
          <p:cNvSpPr/>
          <p:nvPr/>
        </p:nvSpPr>
        <p:spPr>
          <a:xfrm>
            <a:off x="704088" y="3831336"/>
            <a:ext cx="5907024" cy="960120"/>
          </a:xfrm>
          <a:prstGeom prst="rect">
            <a:avLst/>
          </a:prstGeom>
          <a:noFill/>
          <a:ln/>
        </p:spPr>
        <p:txBody>
          <a:bodyPr wrap="square" lIns="0" tIns="0" rIns="0" bIns="0" rtlCol="0" anchor="ctr">
            <a:normAutofit/>
          </a:bodyPr>
          <a:lstStyle/>
          <a:p>
            <a:pPr indent="0" marL="0">
              <a:buNone/>
            </a:pPr>
            <a:r>
              <a:rPr lang="en-US" sz="2300" dirty="0">
                <a:solidFill>
                  <a:srgbClr val="CEE5DF"/>
                </a:solidFill>
                <a:latin typeface="Aptos" pitchFamily="34" charset="0"/>
                <a:ea typeface="Aptos" pitchFamily="34" charset="-122"/>
                <a:cs typeface="Aptos" pitchFamily="34" charset="-120"/>
              </a:rPr>
              <a:t>An on-campus printing website</a:t>
            </a:r>
            <a:endParaRPr lang="en-US" sz="2300" dirty="0"/>
          </a:p>
          <a:p>
            <a:pPr indent="0" marL="0">
              <a:buNone/>
            </a:pPr>
            <a:r>
              <a:rPr lang="en-US" sz="2300" dirty="0">
                <a:solidFill>
                  <a:srgbClr val="CEE5DF"/>
                </a:solidFill>
                <a:latin typeface="Aptos" pitchFamily="34" charset="0"/>
                <a:ea typeface="Aptos" pitchFamily="34" charset="-122"/>
                <a:cs typeface="Aptos" pitchFamily="34" charset="-120"/>
              </a:rPr>
              <a:t>powered by Python + PyScript</a:t>
            </a:r>
            <a:endParaRPr lang="en-US" sz="2300" dirty="0"/>
          </a:p>
        </p:txBody>
      </p:sp>
      <p:sp>
        <p:nvSpPr>
          <p:cNvPr id="7" name="Shape 4"/>
          <p:cNvSpPr/>
          <p:nvPr/>
        </p:nvSpPr>
        <p:spPr>
          <a:xfrm>
            <a:off x="713232" y="5596128"/>
            <a:ext cx="5870448" cy="630936"/>
          </a:xfrm>
          <a:prstGeom prst="roundRect">
            <a:avLst>
              <a:gd name="adj" fmla="val 23188"/>
            </a:avLst>
          </a:prstGeom>
          <a:solidFill>
            <a:srgbClr val="1F4D54"/>
          </a:solidFill>
          <a:ln w="8890">
            <a:solidFill>
              <a:srgbClr val="1F4D54">
                <a:alpha val="0"/>
              </a:srgbClr>
            </a:solidFill>
            <a:prstDash val="solid"/>
          </a:ln>
        </p:spPr>
      </p:sp>
      <p:sp>
        <p:nvSpPr>
          <p:cNvPr id="8" name="Text 5"/>
          <p:cNvSpPr/>
          <p:nvPr/>
        </p:nvSpPr>
        <p:spPr>
          <a:xfrm>
            <a:off x="932688" y="5742432"/>
            <a:ext cx="5440680" cy="29260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Zianne B. Pontanar  +  Daniel D. Pacundo</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BUSINESS PROBLEM</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Why does PrintConnect matter?</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Our survey of 35 active students identified a campus printing inconvenience.</a:t>
            </a:r>
            <a:endParaRPr lang="en-US" sz="1500" dirty="0"/>
          </a:p>
        </p:txBody>
      </p:sp>
      <p:sp>
        <p:nvSpPr>
          <p:cNvPr id="5" name="Shape 3"/>
          <p:cNvSpPr/>
          <p:nvPr/>
        </p:nvSpPr>
        <p:spPr>
          <a:xfrm>
            <a:off x="685800" y="2313432"/>
            <a:ext cx="3493008" cy="2377440"/>
          </a:xfrm>
          <a:prstGeom prst="roundRect">
            <a:avLst>
              <a:gd name="adj" fmla="val 8462"/>
            </a:avLst>
          </a:prstGeom>
          <a:solidFill>
            <a:srgbClr val="FFFFFF"/>
          </a:solidFill>
          <a:ln w="8890">
            <a:solidFill>
              <a:srgbClr val="D7E6E1"/>
            </a:solidFill>
            <a:prstDash val="solid"/>
          </a:ln>
        </p:spPr>
      </p:sp>
      <p:sp>
        <p:nvSpPr>
          <p:cNvPr id="6" name="Text 4"/>
          <p:cNvSpPr/>
          <p:nvPr/>
        </p:nvSpPr>
        <p:spPr>
          <a:xfrm>
            <a:off x="914400" y="2651760"/>
            <a:ext cx="3017520" cy="777240"/>
          </a:xfrm>
          <a:prstGeom prst="rect">
            <a:avLst/>
          </a:prstGeom>
          <a:noFill/>
          <a:ln/>
        </p:spPr>
        <p:txBody>
          <a:bodyPr wrap="square" lIns="0" tIns="0" rIns="0" bIns="0" rtlCol="0" anchor="ctr">
            <a:normAutofit/>
          </a:bodyPr>
          <a:lstStyle/>
          <a:p>
            <a:pPr indent="0" marL="0">
              <a:buNone/>
            </a:pPr>
            <a:r>
              <a:rPr lang="en-US" sz="4700" b="1" dirty="0">
                <a:solidFill>
                  <a:srgbClr val="129B7F"/>
                </a:solidFill>
                <a:latin typeface="Aptos" pitchFamily="34" charset="0"/>
                <a:ea typeface="Aptos" pitchFamily="34" charset="-122"/>
                <a:cs typeface="Aptos" pitchFamily="34" charset="-120"/>
              </a:rPr>
              <a:t>94.3%</a:t>
            </a:r>
            <a:endParaRPr lang="en-US" sz="4700" dirty="0"/>
          </a:p>
        </p:txBody>
      </p:sp>
      <p:sp>
        <p:nvSpPr>
          <p:cNvPr id="7" name="Text 5"/>
          <p:cNvSpPr/>
          <p:nvPr/>
        </p:nvSpPr>
        <p:spPr>
          <a:xfrm>
            <a:off x="932688" y="3657600"/>
            <a:ext cx="2926080" cy="795528"/>
          </a:xfrm>
          <a:prstGeom prst="rect">
            <a:avLst/>
          </a:prstGeom>
          <a:noFill/>
          <a:ln/>
        </p:spPr>
        <p:txBody>
          <a:bodyPr wrap="square" lIns="0" tIns="0" rIns="0" bIns="0" rtlCol="0" anchor="t">
            <a:normAutofit/>
          </a:bodyPr>
          <a:lstStyle/>
          <a:p>
            <a:pPr indent="0" marL="0">
              <a:buNone/>
            </a:pPr>
            <a:r>
              <a:rPr lang="en-US" sz="1600" dirty="0">
                <a:solidFill>
                  <a:srgbClr val="153842"/>
                </a:solidFill>
                <a:latin typeface="Aptos" pitchFamily="34" charset="0"/>
                <a:ea typeface="Aptos" pitchFamily="34" charset="-122"/>
                <a:cs typeface="Aptos" pitchFamily="34" charset="-120"/>
              </a:rPr>
              <a:t>33 out of 35 students print off-campus</a:t>
            </a:r>
            <a:endParaRPr lang="en-US" sz="1600" dirty="0"/>
          </a:p>
        </p:txBody>
      </p:sp>
      <p:sp>
        <p:nvSpPr>
          <p:cNvPr id="8" name="Shape 6"/>
          <p:cNvSpPr/>
          <p:nvPr/>
        </p:nvSpPr>
        <p:spPr>
          <a:xfrm>
            <a:off x="4553712" y="2313432"/>
            <a:ext cx="3493008" cy="2377440"/>
          </a:xfrm>
          <a:prstGeom prst="roundRect">
            <a:avLst>
              <a:gd name="adj" fmla="val 8462"/>
            </a:avLst>
          </a:prstGeom>
          <a:solidFill>
            <a:srgbClr val="FFFFFF"/>
          </a:solidFill>
          <a:ln w="8890">
            <a:solidFill>
              <a:srgbClr val="D7E6E1"/>
            </a:solidFill>
            <a:prstDash val="solid"/>
          </a:ln>
        </p:spPr>
      </p:sp>
      <p:sp>
        <p:nvSpPr>
          <p:cNvPr id="9" name="Text 7"/>
          <p:cNvSpPr/>
          <p:nvPr/>
        </p:nvSpPr>
        <p:spPr>
          <a:xfrm>
            <a:off x="4782312" y="2651760"/>
            <a:ext cx="3017520" cy="777240"/>
          </a:xfrm>
          <a:prstGeom prst="rect">
            <a:avLst/>
          </a:prstGeom>
          <a:noFill/>
          <a:ln/>
        </p:spPr>
        <p:txBody>
          <a:bodyPr wrap="square" lIns="0" tIns="0" rIns="0" bIns="0" rtlCol="0" anchor="ctr">
            <a:normAutofit/>
          </a:bodyPr>
          <a:lstStyle/>
          <a:p>
            <a:pPr indent="0" marL="0">
              <a:buNone/>
            </a:pPr>
            <a:r>
              <a:rPr lang="en-US" sz="4700" b="1" dirty="0">
                <a:solidFill>
                  <a:srgbClr val="129B7F"/>
                </a:solidFill>
                <a:latin typeface="Aptos" pitchFamily="34" charset="0"/>
                <a:ea typeface="Aptos" pitchFamily="34" charset="-122"/>
                <a:cs typeface="Aptos" pitchFamily="34" charset="-120"/>
              </a:rPr>
              <a:t>97.1%</a:t>
            </a:r>
            <a:endParaRPr lang="en-US" sz="4700" dirty="0"/>
          </a:p>
        </p:txBody>
      </p:sp>
      <p:sp>
        <p:nvSpPr>
          <p:cNvPr id="10" name="Text 8"/>
          <p:cNvSpPr/>
          <p:nvPr/>
        </p:nvSpPr>
        <p:spPr>
          <a:xfrm>
            <a:off x="4800600" y="3657600"/>
            <a:ext cx="2926080" cy="795528"/>
          </a:xfrm>
          <a:prstGeom prst="rect">
            <a:avLst/>
          </a:prstGeom>
          <a:noFill/>
          <a:ln/>
        </p:spPr>
        <p:txBody>
          <a:bodyPr wrap="square" lIns="0" tIns="0" rIns="0" bIns="0" rtlCol="0" anchor="t">
            <a:normAutofit/>
          </a:bodyPr>
          <a:lstStyle/>
          <a:p>
            <a:pPr indent="0" marL="0">
              <a:buNone/>
            </a:pPr>
            <a:r>
              <a:rPr lang="en-US" sz="1600" dirty="0">
                <a:solidFill>
                  <a:srgbClr val="153842"/>
                </a:solidFill>
                <a:latin typeface="Aptos" pitchFamily="34" charset="0"/>
                <a:ea typeface="Aptos" pitchFamily="34" charset="-122"/>
                <a:cs typeface="Aptos" pitchFamily="34" charset="-120"/>
              </a:rPr>
              <a:t>34 out of 35 cite high price as a frustration</a:t>
            </a:r>
            <a:endParaRPr lang="en-US" sz="1600" dirty="0"/>
          </a:p>
        </p:txBody>
      </p:sp>
      <p:sp>
        <p:nvSpPr>
          <p:cNvPr id="11" name="Shape 9"/>
          <p:cNvSpPr/>
          <p:nvPr/>
        </p:nvSpPr>
        <p:spPr>
          <a:xfrm>
            <a:off x="8421624" y="2313432"/>
            <a:ext cx="3493008" cy="2377440"/>
          </a:xfrm>
          <a:prstGeom prst="roundRect">
            <a:avLst>
              <a:gd name="adj" fmla="val 8462"/>
            </a:avLst>
          </a:prstGeom>
          <a:solidFill>
            <a:srgbClr val="FFFFFF"/>
          </a:solidFill>
          <a:ln w="8890">
            <a:solidFill>
              <a:srgbClr val="D7E6E1"/>
            </a:solidFill>
            <a:prstDash val="solid"/>
          </a:ln>
        </p:spPr>
      </p:sp>
      <p:sp>
        <p:nvSpPr>
          <p:cNvPr id="12" name="Text 10"/>
          <p:cNvSpPr/>
          <p:nvPr/>
        </p:nvSpPr>
        <p:spPr>
          <a:xfrm>
            <a:off x="8650224" y="2651760"/>
            <a:ext cx="3017520" cy="777240"/>
          </a:xfrm>
          <a:prstGeom prst="rect">
            <a:avLst/>
          </a:prstGeom>
          <a:noFill/>
          <a:ln/>
        </p:spPr>
        <p:txBody>
          <a:bodyPr wrap="square" lIns="0" tIns="0" rIns="0" bIns="0" rtlCol="0" anchor="ctr">
            <a:normAutofit/>
          </a:bodyPr>
          <a:lstStyle/>
          <a:p>
            <a:pPr indent="0" marL="0">
              <a:buNone/>
            </a:pPr>
            <a:r>
              <a:rPr lang="en-US" sz="4700" b="1" dirty="0">
                <a:solidFill>
                  <a:srgbClr val="129B7F"/>
                </a:solidFill>
                <a:latin typeface="Aptos" pitchFamily="34" charset="0"/>
                <a:ea typeface="Aptos" pitchFamily="34" charset="-122"/>
                <a:cs typeface="Aptos" pitchFamily="34" charset="-120"/>
              </a:rPr>
              <a:t>100%</a:t>
            </a:r>
            <a:endParaRPr lang="en-US" sz="4700" dirty="0"/>
          </a:p>
        </p:txBody>
      </p:sp>
      <p:sp>
        <p:nvSpPr>
          <p:cNvPr id="13" name="Text 11"/>
          <p:cNvSpPr/>
          <p:nvPr/>
        </p:nvSpPr>
        <p:spPr>
          <a:xfrm>
            <a:off x="8668512" y="3657600"/>
            <a:ext cx="2926080" cy="795528"/>
          </a:xfrm>
          <a:prstGeom prst="rect">
            <a:avLst/>
          </a:prstGeom>
          <a:noFill/>
          <a:ln/>
        </p:spPr>
        <p:txBody>
          <a:bodyPr wrap="square" lIns="0" tIns="0" rIns="0" bIns="0" rtlCol="0" anchor="t">
            <a:normAutofit/>
          </a:bodyPr>
          <a:lstStyle/>
          <a:p>
            <a:pPr indent="0" marL="0">
              <a:buNone/>
            </a:pPr>
            <a:r>
              <a:rPr lang="en-US" sz="1600" dirty="0">
                <a:solidFill>
                  <a:srgbClr val="153842"/>
                </a:solidFill>
                <a:latin typeface="Aptos" pitchFamily="34" charset="0"/>
                <a:ea typeface="Aptos" pitchFamily="34" charset="-122"/>
                <a:cs typeface="Aptos" pitchFamily="34" charset="-120"/>
              </a:rPr>
              <a:t>All 35 rated on-campus use likely or very likely</a:t>
            </a:r>
            <a:endParaRPr lang="en-US" sz="1600" dirty="0"/>
          </a:p>
        </p:txBody>
      </p:sp>
      <p:sp>
        <p:nvSpPr>
          <p:cNvPr id="14" name="Shape 12"/>
          <p:cNvSpPr/>
          <p:nvPr/>
        </p:nvSpPr>
        <p:spPr>
          <a:xfrm>
            <a:off x="685800" y="5276088"/>
            <a:ext cx="10863072" cy="640080"/>
          </a:xfrm>
          <a:prstGeom prst="roundRect">
            <a:avLst>
              <a:gd name="adj" fmla="val 20000"/>
            </a:avLst>
          </a:prstGeom>
          <a:solidFill>
            <a:srgbClr val="E7F4EE"/>
          </a:solidFill>
          <a:ln w="8890">
            <a:solidFill>
              <a:srgbClr val="E7F4EE">
                <a:alpha val="0"/>
              </a:srgbClr>
            </a:solidFill>
            <a:prstDash val="solid"/>
          </a:ln>
        </p:spPr>
      </p:sp>
      <p:sp>
        <p:nvSpPr>
          <p:cNvPr id="15" name="Text 13"/>
          <p:cNvSpPr/>
          <p:nvPr/>
        </p:nvSpPr>
        <p:spPr>
          <a:xfrm>
            <a:off x="932688" y="5458968"/>
            <a:ext cx="10241280" cy="228600"/>
          </a:xfrm>
          <a:prstGeom prst="rect">
            <a:avLst/>
          </a:prstGeom>
          <a:noFill/>
          <a:ln/>
        </p:spPr>
        <p:txBody>
          <a:bodyPr wrap="square" lIns="0" tIns="0" rIns="0" bIns="0" rtlCol="0" anchor="ctr">
            <a:normAutofit/>
          </a:bodyPr>
          <a:lstStyle/>
          <a:p>
            <a:pPr indent="0" marL="0">
              <a:buNone/>
            </a:pPr>
            <a:r>
              <a:rPr lang="en-US" sz="1300" dirty="0">
                <a:solidFill>
                  <a:srgbClr val="627B80"/>
                </a:solidFill>
                <a:latin typeface="Aptos" pitchFamily="34" charset="0"/>
                <a:ea typeface="Aptos" pitchFamily="34" charset="-122"/>
                <a:cs typeface="Aptos" pitchFamily="34" charset="-120"/>
              </a:rPr>
              <a:t>SOURCE   PrintConnect Business Analytics study • 35 respondents • not the whole school population</a:t>
            </a:r>
            <a:endParaRPr lang="en-US" sz="1300" dirty="0"/>
          </a:p>
        </p:txBody>
      </p:sp>
      <p:sp>
        <p:nvSpPr>
          <p:cNvPr id="16" name="Shape 14"/>
          <p:cNvSpPr/>
          <p:nvPr/>
        </p:nvSpPr>
        <p:spPr>
          <a:xfrm>
            <a:off x="640080" y="6537960"/>
            <a:ext cx="10881360" cy="0"/>
          </a:xfrm>
          <a:prstGeom prst="line">
            <a:avLst/>
          </a:prstGeom>
          <a:noFill/>
          <a:ln w="12700">
            <a:solidFill>
              <a:srgbClr val="D7E6E1"/>
            </a:solidFill>
            <a:prstDash val="solid"/>
          </a:ln>
        </p:spPr>
      </p:sp>
      <p:sp>
        <p:nvSpPr>
          <p:cNvPr id="17" name="Text 15"/>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18" name="Text 16"/>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BUSINESS CONCEPT</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An easier way to print on campus</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PrintConnect proposes an accessible kiosk supported by a simple digital price-estimation website.</a:t>
            </a:r>
            <a:endParaRPr lang="en-US" sz="1500" dirty="0"/>
          </a:p>
        </p:txBody>
      </p:sp>
      <p:sp>
        <p:nvSpPr>
          <p:cNvPr id="5" name="Shape 3"/>
          <p:cNvSpPr/>
          <p:nvPr/>
        </p:nvSpPr>
        <p:spPr>
          <a:xfrm>
            <a:off x="713232" y="2167128"/>
            <a:ext cx="3401568" cy="2496312"/>
          </a:xfrm>
          <a:prstGeom prst="roundRect">
            <a:avLst>
              <a:gd name="adj" fmla="val 8059"/>
            </a:avLst>
          </a:prstGeom>
          <a:solidFill>
            <a:srgbClr val="FFFFFF"/>
          </a:solidFill>
          <a:ln w="8890">
            <a:solidFill>
              <a:srgbClr val="D7E6E1"/>
            </a:solidFill>
            <a:prstDash val="solid"/>
          </a:ln>
        </p:spPr>
      </p:sp>
      <p:sp>
        <p:nvSpPr>
          <p:cNvPr id="6" name="Text 4"/>
          <p:cNvSpPr/>
          <p:nvPr/>
        </p:nvSpPr>
        <p:spPr>
          <a:xfrm>
            <a:off x="932688" y="2350008"/>
            <a:ext cx="2990088" cy="457200"/>
          </a:xfrm>
          <a:prstGeom prst="rect">
            <a:avLst/>
          </a:prstGeom>
          <a:noFill/>
          <a:ln/>
        </p:spPr>
        <p:txBody>
          <a:bodyPr wrap="square" lIns="0" tIns="0" rIns="0" bIns="0" rtlCol="0" anchor="ctr">
            <a:normAutofit/>
          </a:bodyPr>
          <a:lstStyle/>
          <a:p>
            <a:pPr indent="0" marL="0">
              <a:buNone/>
            </a:pPr>
            <a:r>
              <a:rPr lang="en-US" sz="2600" b="1" dirty="0">
                <a:solidFill>
                  <a:srgbClr val="22BE9B"/>
                </a:solidFill>
                <a:latin typeface="Aptos" pitchFamily="34" charset="0"/>
                <a:ea typeface="Aptos" pitchFamily="34" charset="-122"/>
                <a:cs typeface="Aptos" pitchFamily="34" charset="-120"/>
              </a:rPr>
              <a:t>01</a:t>
            </a:r>
            <a:endParaRPr lang="en-US" sz="2600" dirty="0"/>
          </a:p>
        </p:txBody>
      </p:sp>
      <p:sp>
        <p:nvSpPr>
          <p:cNvPr id="7" name="Text 5"/>
          <p:cNvSpPr/>
          <p:nvPr/>
        </p:nvSpPr>
        <p:spPr>
          <a:xfrm>
            <a:off x="932688" y="2962656"/>
            <a:ext cx="2962656" cy="457200"/>
          </a:xfrm>
          <a:prstGeom prst="rect">
            <a:avLst/>
          </a:prstGeom>
          <a:noFill/>
          <a:ln/>
        </p:spPr>
        <p:txBody>
          <a:bodyPr wrap="square" lIns="0" tIns="0" rIns="0" bIns="0" rtlCol="0" anchor="ctr">
            <a:normAutofit/>
          </a:bodyPr>
          <a:lstStyle/>
          <a:p>
            <a:pPr indent="0" marL="0">
              <a:buNone/>
            </a:pPr>
            <a:r>
              <a:rPr lang="en-US" sz="1900" b="1" dirty="0">
                <a:solidFill>
                  <a:srgbClr val="153842"/>
                </a:solidFill>
                <a:latin typeface="Aptos" pitchFamily="34" charset="0"/>
                <a:ea typeface="Aptos" pitchFamily="34" charset="-122"/>
                <a:cs typeface="Aptos" pitchFamily="34" charset="-120"/>
              </a:rPr>
              <a:t>Affordable</a:t>
            </a:r>
            <a:endParaRPr lang="en-US" sz="1900" dirty="0"/>
          </a:p>
        </p:txBody>
      </p:sp>
      <p:sp>
        <p:nvSpPr>
          <p:cNvPr id="8" name="Text 6"/>
          <p:cNvSpPr/>
          <p:nvPr/>
        </p:nvSpPr>
        <p:spPr>
          <a:xfrm>
            <a:off x="932688" y="3474720"/>
            <a:ext cx="2962656" cy="1051560"/>
          </a:xfrm>
          <a:prstGeom prst="rect">
            <a:avLst/>
          </a:prstGeom>
          <a:noFill/>
          <a:ln/>
        </p:spPr>
        <p:txBody>
          <a:bodyPr wrap="square" lIns="0" tIns="0" rIns="0" bIns="0" rtlCol="0" anchor="t">
            <a:normAutofit/>
          </a:bodyPr>
          <a:lstStyle/>
          <a:p>
            <a:pPr indent="0" marL="0">
              <a:buNone/>
            </a:pPr>
            <a:r>
              <a:rPr lang="en-US" sz="1380" dirty="0">
                <a:solidFill>
                  <a:srgbClr val="627B80"/>
                </a:solidFill>
                <a:latin typeface="Aptos" pitchFamily="34" charset="0"/>
                <a:ea typeface="Aptos" pitchFamily="34" charset="-122"/>
                <a:cs typeface="Aptos" pitchFamily="34" charset="-120"/>
              </a:rPr>
              <a:t>Proposed student-oriented prices: ₱2 for B&amp;W and ₱5 for color per printed page.</a:t>
            </a:r>
            <a:endParaRPr lang="en-US" sz="1380" dirty="0"/>
          </a:p>
        </p:txBody>
      </p:sp>
      <p:sp>
        <p:nvSpPr>
          <p:cNvPr id="9" name="Shape 7"/>
          <p:cNvSpPr/>
          <p:nvPr/>
        </p:nvSpPr>
        <p:spPr>
          <a:xfrm>
            <a:off x="4370832" y="2167128"/>
            <a:ext cx="3401568" cy="2496312"/>
          </a:xfrm>
          <a:prstGeom prst="roundRect">
            <a:avLst>
              <a:gd name="adj" fmla="val 8059"/>
            </a:avLst>
          </a:prstGeom>
          <a:solidFill>
            <a:srgbClr val="FFFFFF"/>
          </a:solidFill>
          <a:ln w="8890">
            <a:solidFill>
              <a:srgbClr val="D7E6E1"/>
            </a:solidFill>
            <a:prstDash val="solid"/>
          </a:ln>
        </p:spPr>
      </p:sp>
      <p:sp>
        <p:nvSpPr>
          <p:cNvPr id="10" name="Text 8"/>
          <p:cNvSpPr/>
          <p:nvPr/>
        </p:nvSpPr>
        <p:spPr>
          <a:xfrm>
            <a:off x="4590288" y="2350008"/>
            <a:ext cx="2990088" cy="457200"/>
          </a:xfrm>
          <a:prstGeom prst="rect">
            <a:avLst/>
          </a:prstGeom>
          <a:noFill/>
          <a:ln/>
        </p:spPr>
        <p:txBody>
          <a:bodyPr wrap="square" lIns="0" tIns="0" rIns="0" bIns="0" rtlCol="0" anchor="ctr">
            <a:normAutofit/>
          </a:bodyPr>
          <a:lstStyle/>
          <a:p>
            <a:pPr indent="0" marL="0">
              <a:buNone/>
            </a:pPr>
            <a:r>
              <a:rPr lang="en-US" sz="2600" b="1" dirty="0">
                <a:solidFill>
                  <a:srgbClr val="22BE9B"/>
                </a:solidFill>
                <a:latin typeface="Aptos" pitchFamily="34" charset="0"/>
                <a:ea typeface="Aptos" pitchFamily="34" charset="-122"/>
                <a:cs typeface="Aptos" pitchFamily="34" charset="-120"/>
              </a:rPr>
              <a:t>02</a:t>
            </a:r>
            <a:endParaRPr lang="en-US" sz="2600" dirty="0"/>
          </a:p>
        </p:txBody>
      </p:sp>
      <p:sp>
        <p:nvSpPr>
          <p:cNvPr id="11" name="Text 9"/>
          <p:cNvSpPr/>
          <p:nvPr/>
        </p:nvSpPr>
        <p:spPr>
          <a:xfrm>
            <a:off x="4590288" y="2962656"/>
            <a:ext cx="2962656" cy="457200"/>
          </a:xfrm>
          <a:prstGeom prst="rect">
            <a:avLst/>
          </a:prstGeom>
          <a:noFill/>
          <a:ln/>
        </p:spPr>
        <p:txBody>
          <a:bodyPr wrap="square" lIns="0" tIns="0" rIns="0" bIns="0" rtlCol="0" anchor="ctr">
            <a:normAutofit/>
          </a:bodyPr>
          <a:lstStyle/>
          <a:p>
            <a:pPr indent="0" marL="0">
              <a:buNone/>
            </a:pPr>
            <a:r>
              <a:rPr lang="en-US" sz="1900" b="1" dirty="0">
                <a:solidFill>
                  <a:srgbClr val="153842"/>
                </a:solidFill>
                <a:latin typeface="Aptos" pitchFamily="34" charset="0"/>
                <a:ea typeface="Aptos" pitchFamily="34" charset="-122"/>
                <a:cs typeface="Aptos" pitchFamily="34" charset="-120"/>
              </a:rPr>
              <a:t>Convenient</a:t>
            </a:r>
            <a:endParaRPr lang="en-US" sz="1900" dirty="0"/>
          </a:p>
        </p:txBody>
      </p:sp>
      <p:sp>
        <p:nvSpPr>
          <p:cNvPr id="12" name="Text 10"/>
          <p:cNvSpPr/>
          <p:nvPr/>
        </p:nvSpPr>
        <p:spPr>
          <a:xfrm>
            <a:off x="4590288" y="3474720"/>
            <a:ext cx="2962656" cy="1051560"/>
          </a:xfrm>
          <a:prstGeom prst="rect">
            <a:avLst/>
          </a:prstGeom>
          <a:noFill/>
          <a:ln/>
        </p:spPr>
        <p:txBody>
          <a:bodyPr wrap="square" lIns="0" tIns="0" rIns="0" bIns="0" rtlCol="0" anchor="t">
            <a:normAutofit/>
          </a:bodyPr>
          <a:lstStyle/>
          <a:p>
            <a:pPr indent="0" marL="0">
              <a:buNone/>
            </a:pPr>
            <a:r>
              <a:rPr lang="en-US" sz="1380" dirty="0">
                <a:solidFill>
                  <a:srgbClr val="627B80"/>
                </a:solidFill>
                <a:latin typeface="Aptos" pitchFamily="34" charset="0"/>
                <a:ea typeface="Aptos" pitchFamily="34" charset="-122"/>
                <a:cs typeface="Aptos" pitchFamily="34" charset="-120"/>
              </a:rPr>
              <a:t>Students can view services and pricing without asking multiple print shops.</a:t>
            </a:r>
            <a:endParaRPr lang="en-US" sz="1380" dirty="0"/>
          </a:p>
        </p:txBody>
      </p:sp>
      <p:sp>
        <p:nvSpPr>
          <p:cNvPr id="13" name="Shape 11"/>
          <p:cNvSpPr/>
          <p:nvPr/>
        </p:nvSpPr>
        <p:spPr>
          <a:xfrm>
            <a:off x="8028432" y="2167128"/>
            <a:ext cx="3401568" cy="2496312"/>
          </a:xfrm>
          <a:prstGeom prst="roundRect">
            <a:avLst>
              <a:gd name="adj" fmla="val 8059"/>
            </a:avLst>
          </a:prstGeom>
          <a:solidFill>
            <a:srgbClr val="FFFFFF"/>
          </a:solidFill>
          <a:ln w="8890">
            <a:solidFill>
              <a:srgbClr val="D7E6E1"/>
            </a:solidFill>
            <a:prstDash val="solid"/>
          </a:ln>
        </p:spPr>
      </p:sp>
      <p:sp>
        <p:nvSpPr>
          <p:cNvPr id="14" name="Text 12"/>
          <p:cNvSpPr/>
          <p:nvPr/>
        </p:nvSpPr>
        <p:spPr>
          <a:xfrm>
            <a:off x="8247888" y="2350008"/>
            <a:ext cx="2990088" cy="457200"/>
          </a:xfrm>
          <a:prstGeom prst="rect">
            <a:avLst/>
          </a:prstGeom>
          <a:noFill/>
          <a:ln/>
        </p:spPr>
        <p:txBody>
          <a:bodyPr wrap="square" lIns="0" tIns="0" rIns="0" bIns="0" rtlCol="0" anchor="ctr">
            <a:normAutofit/>
          </a:bodyPr>
          <a:lstStyle/>
          <a:p>
            <a:pPr indent="0" marL="0">
              <a:buNone/>
            </a:pPr>
            <a:r>
              <a:rPr lang="en-US" sz="2600" b="1" dirty="0">
                <a:solidFill>
                  <a:srgbClr val="22BE9B"/>
                </a:solidFill>
                <a:latin typeface="Aptos" pitchFamily="34" charset="0"/>
                <a:ea typeface="Aptos" pitchFamily="34" charset="-122"/>
                <a:cs typeface="Aptos" pitchFamily="34" charset="-120"/>
              </a:rPr>
              <a:t>03</a:t>
            </a:r>
            <a:endParaRPr lang="en-US" sz="2600" dirty="0"/>
          </a:p>
        </p:txBody>
      </p:sp>
      <p:sp>
        <p:nvSpPr>
          <p:cNvPr id="15" name="Text 13"/>
          <p:cNvSpPr/>
          <p:nvPr/>
        </p:nvSpPr>
        <p:spPr>
          <a:xfrm>
            <a:off x="8247888" y="2962656"/>
            <a:ext cx="2962656" cy="457200"/>
          </a:xfrm>
          <a:prstGeom prst="rect">
            <a:avLst/>
          </a:prstGeom>
          <a:noFill/>
          <a:ln/>
        </p:spPr>
        <p:txBody>
          <a:bodyPr wrap="square" lIns="0" tIns="0" rIns="0" bIns="0" rtlCol="0" anchor="ctr">
            <a:normAutofit/>
          </a:bodyPr>
          <a:lstStyle/>
          <a:p>
            <a:pPr indent="0" marL="0">
              <a:buNone/>
            </a:pPr>
            <a:r>
              <a:rPr lang="en-US" sz="1900" b="1" dirty="0">
                <a:solidFill>
                  <a:srgbClr val="153842"/>
                </a:solidFill>
                <a:latin typeface="Aptos" pitchFamily="34" charset="0"/>
                <a:ea typeface="Aptos" pitchFamily="34" charset="-122"/>
                <a:cs typeface="Aptos" pitchFamily="34" charset="-120"/>
              </a:rPr>
              <a:t>Transparent</a:t>
            </a:r>
            <a:endParaRPr lang="en-US" sz="1900" dirty="0"/>
          </a:p>
        </p:txBody>
      </p:sp>
      <p:sp>
        <p:nvSpPr>
          <p:cNvPr id="16" name="Text 14"/>
          <p:cNvSpPr/>
          <p:nvPr/>
        </p:nvSpPr>
        <p:spPr>
          <a:xfrm>
            <a:off x="8247888" y="3474720"/>
            <a:ext cx="2962656" cy="1051560"/>
          </a:xfrm>
          <a:prstGeom prst="rect">
            <a:avLst/>
          </a:prstGeom>
          <a:noFill/>
          <a:ln/>
        </p:spPr>
        <p:txBody>
          <a:bodyPr wrap="square" lIns="0" tIns="0" rIns="0" bIns="0" rtlCol="0" anchor="t">
            <a:normAutofit/>
          </a:bodyPr>
          <a:lstStyle/>
          <a:p>
            <a:pPr indent="0" marL="0">
              <a:buNone/>
            </a:pPr>
            <a:r>
              <a:rPr lang="en-US" sz="1380" dirty="0">
                <a:solidFill>
                  <a:srgbClr val="627B80"/>
                </a:solidFill>
                <a:latin typeface="Aptos" pitchFamily="34" charset="0"/>
                <a:ea typeface="Aptos" pitchFamily="34" charset="-122"/>
                <a:cs typeface="Aptos" pitchFamily="34" charset="-120"/>
              </a:rPr>
              <a:t>The website calculates a quote before a student visits a physical print station.</a:t>
            </a:r>
            <a:endParaRPr lang="en-US" sz="1380" dirty="0"/>
          </a:p>
        </p:txBody>
      </p:sp>
      <p:sp>
        <p:nvSpPr>
          <p:cNvPr id="17" name="Shape 15"/>
          <p:cNvSpPr/>
          <p:nvPr/>
        </p:nvSpPr>
        <p:spPr>
          <a:xfrm>
            <a:off x="713232" y="4992624"/>
            <a:ext cx="10725912" cy="749808"/>
          </a:xfrm>
          <a:prstGeom prst="roundRect">
            <a:avLst>
              <a:gd name="adj" fmla="val 15854"/>
            </a:avLst>
          </a:prstGeom>
          <a:solidFill>
            <a:srgbClr val="12333C"/>
          </a:solidFill>
          <a:ln w="8890">
            <a:solidFill>
              <a:srgbClr val="12333C">
                <a:alpha val="0"/>
              </a:srgbClr>
            </a:solidFill>
            <a:prstDash val="solid"/>
          </a:ln>
        </p:spPr>
      </p:sp>
      <p:sp>
        <p:nvSpPr>
          <p:cNvPr id="18" name="Text 16"/>
          <p:cNvSpPr/>
          <p:nvPr/>
        </p:nvSpPr>
        <p:spPr>
          <a:xfrm>
            <a:off x="969264" y="5193792"/>
            <a:ext cx="10177272" cy="347472"/>
          </a:xfrm>
          <a:prstGeom prst="rect">
            <a:avLst/>
          </a:prstGeom>
          <a:noFill/>
          <a:ln/>
        </p:spPr>
        <p:txBody>
          <a:bodyPr wrap="square" lIns="0" tIns="0" rIns="0" bIns="0" rtlCol="0" anchor="ctr">
            <a:normAutofit/>
          </a:bodyPr>
          <a:lstStyle/>
          <a:p>
            <a:pPr indent="0" marL="0">
              <a:buNone/>
            </a:pPr>
            <a:r>
              <a:rPr lang="en-US" sz="1540" b="1" dirty="0">
                <a:solidFill>
                  <a:srgbClr val="FFFFFF"/>
                </a:solidFill>
                <a:latin typeface="Aptos" pitchFamily="34" charset="0"/>
                <a:ea typeface="Aptos" pitchFamily="34" charset="-122"/>
                <a:cs typeface="Aptos" pitchFamily="34" charset="-120"/>
              </a:rPr>
              <a:t>Scope: A proposed business and academic website prototype — not a live print kiosk or payment system.</a:t>
            </a:r>
            <a:endParaRPr lang="en-US" sz="1540" dirty="0"/>
          </a:p>
        </p:txBody>
      </p:sp>
      <p:sp>
        <p:nvSpPr>
          <p:cNvPr id="19" name="Shape 17"/>
          <p:cNvSpPr/>
          <p:nvPr/>
        </p:nvSpPr>
        <p:spPr>
          <a:xfrm>
            <a:off x="640080" y="6537960"/>
            <a:ext cx="10881360" cy="0"/>
          </a:xfrm>
          <a:prstGeom prst="line">
            <a:avLst/>
          </a:prstGeom>
          <a:noFill/>
          <a:ln w="12700">
            <a:solidFill>
              <a:srgbClr val="D7E6E1"/>
            </a:solidFill>
            <a:prstDash val="solid"/>
          </a:ln>
        </p:spPr>
      </p:sp>
      <p:sp>
        <p:nvSpPr>
          <p:cNvPr id="20" name="Text 18"/>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21" name="Text 19"/>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PROJECT OBJECTIVES</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A simple stack, based on what is needed</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The instructor requires PyScript interaction and evidence of event-driven programming.</a:t>
            </a:r>
            <a:endParaRPr lang="en-US" sz="1500" dirty="0"/>
          </a:p>
        </p:txBody>
      </p:sp>
      <p:sp>
        <p:nvSpPr>
          <p:cNvPr id="5" name="Shape 3"/>
          <p:cNvSpPr/>
          <p:nvPr/>
        </p:nvSpPr>
        <p:spPr>
          <a:xfrm>
            <a:off x="731520" y="2075688"/>
            <a:ext cx="10698480" cy="612648"/>
          </a:xfrm>
          <a:prstGeom prst="roundRect">
            <a:avLst>
              <a:gd name="adj" fmla="val 16418"/>
            </a:avLst>
          </a:prstGeom>
          <a:solidFill>
            <a:srgbClr val="EAF4EE"/>
          </a:solidFill>
          <a:ln w="8890">
            <a:solidFill>
              <a:srgbClr val="EAF4EE">
                <a:alpha val="0"/>
              </a:srgbClr>
            </a:solidFill>
            <a:prstDash val="solid"/>
          </a:ln>
        </p:spPr>
      </p:sp>
      <p:sp>
        <p:nvSpPr>
          <p:cNvPr id="6" name="Text 4"/>
          <p:cNvSpPr/>
          <p:nvPr/>
        </p:nvSpPr>
        <p:spPr>
          <a:xfrm>
            <a:off x="960120" y="2212848"/>
            <a:ext cx="1947672" cy="265176"/>
          </a:xfrm>
          <a:prstGeom prst="rect">
            <a:avLst/>
          </a:prstGeom>
          <a:noFill/>
          <a:ln/>
        </p:spPr>
        <p:txBody>
          <a:bodyPr wrap="square" lIns="0" tIns="0" rIns="0" bIns="0" rtlCol="0" anchor="ctr">
            <a:normAutofit/>
          </a:bodyPr>
          <a:lstStyle/>
          <a:p>
            <a:pPr indent="0" marL="0">
              <a:buNone/>
            </a:pPr>
            <a:r>
              <a:rPr lang="en-US" sz="1600" b="1" dirty="0">
                <a:solidFill>
                  <a:srgbClr val="153842"/>
                </a:solidFill>
                <a:latin typeface="Aptos" pitchFamily="34" charset="0"/>
                <a:ea typeface="Aptos" pitchFamily="34" charset="-122"/>
                <a:cs typeface="Aptos" pitchFamily="34" charset="-120"/>
              </a:rPr>
              <a:t>HTML5</a:t>
            </a:r>
            <a:endParaRPr lang="en-US" sz="1600" dirty="0"/>
          </a:p>
        </p:txBody>
      </p:sp>
      <p:sp>
        <p:nvSpPr>
          <p:cNvPr id="7" name="Text 5"/>
          <p:cNvSpPr/>
          <p:nvPr/>
        </p:nvSpPr>
        <p:spPr>
          <a:xfrm>
            <a:off x="2852928" y="2212848"/>
            <a:ext cx="8138160" cy="274320"/>
          </a:xfrm>
          <a:prstGeom prst="rect">
            <a:avLst/>
          </a:prstGeom>
          <a:noFill/>
          <a:ln/>
        </p:spPr>
        <p:txBody>
          <a:bodyPr wrap="square" lIns="0" tIns="0" rIns="0" bIns="0" rtlCol="0" anchor="ctr">
            <a:normAutofit/>
          </a:bodyPr>
          <a:lstStyle/>
          <a:p>
            <a:pPr indent="0" marL="0">
              <a:buNone/>
            </a:pPr>
            <a:r>
              <a:rPr lang="en-US" sz="1550" dirty="0">
                <a:solidFill>
                  <a:srgbClr val="627B80"/>
                </a:solidFill>
                <a:latin typeface="Aptos" pitchFamily="34" charset="0"/>
                <a:ea typeface="Aptos" pitchFamily="34" charset="-122"/>
                <a:cs typeface="Aptos" pitchFamily="34" charset="-120"/>
              </a:rPr>
              <a:t>Five semantic pages and student forms</a:t>
            </a:r>
            <a:endParaRPr lang="en-US" sz="1550" dirty="0"/>
          </a:p>
        </p:txBody>
      </p:sp>
      <p:sp>
        <p:nvSpPr>
          <p:cNvPr id="8" name="Shape 6"/>
          <p:cNvSpPr/>
          <p:nvPr/>
        </p:nvSpPr>
        <p:spPr>
          <a:xfrm>
            <a:off x="731520" y="2825496"/>
            <a:ext cx="10698480" cy="612648"/>
          </a:xfrm>
          <a:prstGeom prst="roundRect">
            <a:avLst>
              <a:gd name="adj" fmla="val 16418"/>
            </a:avLst>
          </a:prstGeom>
          <a:solidFill>
            <a:srgbClr val="FFFFFF"/>
          </a:solidFill>
          <a:ln w="8890">
            <a:solidFill>
              <a:srgbClr val="FFFFFF">
                <a:alpha val="0"/>
              </a:srgbClr>
            </a:solidFill>
            <a:prstDash val="solid"/>
          </a:ln>
        </p:spPr>
      </p:sp>
      <p:sp>
        <p:nvSpPr>
          <p:cNvPr id="9" name="Text 7"/>
          <p:cNvSpPr/>
          <p:nvPr/>
        </p:nvSpPr>
        <p:spPr>
          <a:xfrm>
            <a:off x="960120" y="2962656"/>
            <a:ext cx="1947672" cy="265176"/>
          </a:xfrm>
          <a:prstGeom prst="rect">
            <a:avLst/>
          </a:prstGeom>
          <a:noFill/>
          <a:ln/>
        </p:spPr>
        <p:txBody>
          <a:bodyPr wrap="square" lIns="0" tIns="0" rIns="0" bIns="0" rtlCol="0" anchor="ctr">
            <a:normAutofit/>
          </a:bodyPr>
          <a:lstStyle/>
          <a:p>
            <a:pPr indent="0" marL="0">
              <a:buNone/>
            </a:pPr>
            <a:r>
              <a:rPr lang="en-US" sz="1600" b="1" dirty="0">
                <a:solidFill>
                  <a:srgbClr val="153842"/>
                </a:solidFill>
                <a:latin typeface="Aptos" pitchFamily="34" charset="0"/>
                <a:ea typeface="Aptos" pitchFamily="34" charset="-122"/>
                <a:cs typeface="Aptos" pitchFamily="34" charset="-120"/>
              </a:rPr>
              <a:t>CSS3</a:t>
            </a:r>
            <a:endParaRPr lang="en-US" sz="1600" dirty="0"/>
          </a:p>
        </p:txBody>
      </p:sp>
      <p:sp>
        <p:nvSpPr>
          <p:cNvPr id="10" name="Text 8"/>
          <p:cNvSpPr/>
          <p:nvPr/>
        </p:nvSpPr>
        <p:spPr>
          <a:xfrm>
            <a:off x="2852928" y="2962656"/>
            <a:ext cx="8138160" cy="274320"/>
          </a:xfrm>
          <a:prstGeom prst="rect">
            <a:avLst/>
          </a:prstGeom>
          <a:noFill/>
          <a:ln/>
        </p:spPr>
        <p:txBody>
          <a:bodyPr wrap="square" lIns="0" tIns="0" rIns="0" bIns="0" rtlCol="0" anchor="ctr">
            <a:normAutofit/>
          </a:bodyPr>
          <a:lstStyle/>
          <a:p>
            <a:pPr indent="0" marL="0">
              <a:buNone/>
            </a:pPr>
            <a:r>
              <a:rPr lang="en-US" sz="1550" dirty="0">
                <a:solidFill>
                  <a:srgbClr val="627B80"/>
                </a:solidFill>
                <a:latin typeface="Aptos" pitchFamily="34" charset="0"/>
                <a:ea typeface="Aptos" pitchFamily="34" charset="-122"/>
                <a:cs typeface="Aptos" pitchFamily="34" charset="-120"/>
              </a:rPr>
              <a:t>Modern responsive site, no UI framework</a:t>
            </a:r>
            <a:endParaRPr lang="en-US" sz="1550" dirty="0"/>
          </a:p>
        </p:txBody>
      </p:sp>
      <p:sp>
        <p:nvSpPr>
          <p:cNvPr id="11" name="Shape 9"/>
          <p:cNvSpPr/>
          <p:nvPr/>
        </p:nvSpPr>
        <p:spPr>
          <a:xfrm>
            <a:off x="731520" y="3575304"/>
            <a:ext cx="10698480" cy="612648"/>
          </a:xfrm>
          <a:prstGeom prst="roundRect">
            <a:avLst>
              <a:gd name="adj" fmla="val 16418"/>
            </a:avLst>
          </a:prstGeom>
          <a:solidFill>
            <a:srgbClr val="EAF4EE"/>
          </a:solidFill>
          <a:ln w="8890">
            <a:solidFill>
              <a:srgbClr val="EAF4EE">
                <a:alpha val="0"/>
              </a:srgbClr>
            </a:solidFill>
            <a:prstDash val="solid"/>
          </a:ln>
        </p:spPr>
      </p:sp>
      <p:sp>
        <p:nvSpPr>
          <p:cNvPr id="12" name="Text 10"/>
          <p:cNvSpPr/>
          <p:nvPr/>
        </p:nvSpPr>
        <p:spPr>
          <a:xfrm>
            <a:off x="960120" y="3712464"/>
            <a:ext cx="1947672" cy="265176"/>
          </a:xfrm>
          <a:prstGeom prst="rect">
            <a:avLst/>
          </a:prstGeom>
          <a:noFill/>
          <a:ln/>
        </p:spPr>
        <p:txBody>
          <a:bodyPr wrap="square" lIns="0" tIns="0" rIns="0" bIns="0" rtlCol="0" anchor="ctr">
            <a:normAutofit/>
          </a:bodyPr>
          <a:lstStyle/>
          <a:p>
            <a:pPr indent="0" marL="0">
              <a:buNone/>
            </a:pPr>
            <a:r>
              <a:rPr lang="en-US" sz="1600" b="1" dirty="0">
                <a:solidFill>
                  <a:srgbClr val="153842"/>
                </a:solidFill>
                <a:latin typeface="Aptos" pitchFamily="34" charset="0"/>
                <a:ea typeface="Aptos" pitchFamily="34" charset="-122"/>
                <a:cs typeface="Aptos" pitchFamily="34" charset="-120"/>
              </a:rPr>
              <a:t>PyScript</a:t>
            </a:r>
            <a:endParaRPr lang="en-US" sz="1600" dirty="0"/>
          </a:p>
        </p:txBody>
      </p:sp>
      <p:sp>
        <p:nvSpPr>
          <p:cNvPr id="13" name="Text 11"/>
          <p:cNvSpPr/>
          <p:nvPr/>
        </p:nvSpPr>
        <p:spPr>
          <a:xfrm>
            <a:off x="2852928" y="3712464"/>
            <a:ext cx="8138160" cy="274320"/>
          </a:xfrm>
          <a:prstGeom prst="rect">
            <a:avLst/>
          </a:prstGeom>
          <a:noFill/>
          <a:ln/>
        </p:spPr>
        <p:txBody>
          <a:bodyPr wrap="square" lIns="0" tIns="0" rIns="0" bIns="0" rtlCol="0" anchor="ctr">
            <a:normAutofit/>
          </a:bodyPr>
          <a:lstStyle/>
          <a:p>
            <a:pPr indent="0" marL="0">
              <a:buNone/>
            </a:pPr>
            <a:r>
              <a:rPr lang="en-US" sz="1550" dirty="0">
                <a:solidFill>
                  <a:srgbClr val="627B80"/>
                </a:solidFill>
                <a:latin typeface="Aptos" pitchFamily="34" charset="0"/>
                <a:ea typeface="Aptos" pitchFamily="34" charset="-122"/>
                <a:cs typeface="Aptos" pitchFamily="34" charset="-120"/>
              </a:rPr>
              <a:t>Browser-based Python event handlers</a:t>
            </a:r>
            <a:endParaRPr lang="en-US" sz="1550" dirty="0"/>
          </a:p>
        </p:txBody>
      </p:sp>
      <p:sp>
        <p:nvSpPr>
          <p:cNvPr id="14" name="Shape 12"/>
          <p:cNvSpPr/>
          <p:nvPr/>
        </p:nvSpPr>
        <p:spPr>
          <a:xfrm>
            <a:off x="731520" y="4325112"/>
            <a:ext cx="10698480" cy="612648"/>
          </a:xfrm>
          <a:prstGeom prst="roundRect">
            <a:avLst>
              <a:gd name="adj" fmla="val 16418"/>
            </a:avLst>
          </a:prstGeom>
          <a:solidFill>
            <a:srgbClr val="FFFFFF"/>
          </a:solidFill>
          <a:ln w="8890">
            <a:solidFill>
              <a:srgbClr val="FFFFFF">
                <a:alpha val="0"/>
              </a:srgbClr>
            </a:solidFill>
            <a:prstDash val="solid"/>
          </a:ln>
        </p:spPr>
      </p:sp>
      <p:sp>
        <p:nvSpPr>
          <p:cNvPr id="15" name="Text 13"/>
          <p:cNvSpPr/>
          <p:nvPr/>
        </p:nvSpPr>
        <p:spPr>
          <a:xfrm>
            <a:off x="960120" y="4462272"/>
            <a:ext cx="1947672" cy="265176"/>
          </a:xfrm>
          <a:prstGeom prst="rect">
            <a:avLst/>
          </a:prstGeom>
          <a:noFill/>
          <a:ln/>
        </p:spPr>
        <p:txBody>
          <a:bodyPr wrap="square" lIns="0" tIns="0" rIns="0" bIns="0" rtlCol="0" anchor="ctr">
            <a:normAutofit/>
          </a:bodyPr>
          <a:lstStyle/>
          <a:p>
            <a:pPr indent="0" marL="0">
              <a:buNone/>
            </a:pPr>
            <a:r>
              <a:rPr lang="en-US" sz="1600" b="1" dirty="0">
                <a:solidFill>
                  <a:srgbClr val="153842"/>
                </a:solidFill>
                <a:latin typeface="Aptos" pitchFamily="34" charset="0"/>
                <a:ea typeface="Aptos" pitchFamily="34" charset="-122"/>
                <a:cs typeface="Aptos" pitchFamily="34" charset="-120"/>
              </a:rPr>
              <a:t>Python</a:t>
            </a:r>
            <a:endParaRPr lang="en-US" sz="1600" dirty="0"/>
          </a:p>
        </p:txBody>
      </p:sp>
      <p:sp>
        <p:nvSpPr>
          <p:cNvPr id="16" name="Text 14"/>
          <p:cNvSpPr/>
          <p:nvPr/>
        </p:nvSpPr>
        <p:spPr>
          <a:xfrm>
            <a:off x="2852928" y="4462272"/>
            <a:ext cx="8138160" cy="274320"/>
          </a:xfrm>
          <a:prstGeom prst="rect">
            <a:avLst/>
          </a:prstGeom>
          <a:noFill/>
          <a:ln/>
        </p:spPr>
        <p:txBody>
          <a:bodyPr wrap="square" lIns="0" tIns="0" rIns="0" bIns="0" rtlCol="0" anchor="ctr">
            <a:normAutofit/>
          </a:bodyPr>
          <a:lstStyle/>
          <a:p>
            <a:pPr indent="0" marL="0">
              <a:buNone/>
            </a:pPr>
            <a:r>
              <a:rPr lang="en-US" sz="1550" dirty="0">
                <a:solidFill>
                  <a:srgbClr val="627B80"/>
                </a:solidFill>
                <a:latin typeface="Aptos" pitchFamily="34" charset="0"/>
                <a:ea typeface="Aptos" pitchFamily="34" charset="-122"/>
                <a:cs typeface="Aptos" pitchFamily="34" charset="-120"/>
              </a:rPr>
              <a:t>Pure pricing calculations and tests</a:t>
            </a:r>
            <a:endParaRPr lang="en-US" sz="1550" dirty="0"/>
          </a:p>
        </p:txBody>
      </p:sp>
      <p:sp>
        <p:nvSpPr>
          <p:cNvPr id="17" name="Shape 15"/>
          <p:cNvSpPr/>
          <p:nvPr/>
        </p:nvSpPr>
        <p:spPr>
          <a:xfrm>
            <a:off x="731520" y="5074920"/>
            <a:ext cx="10698480" cy="612648"/>
          </a:xfrm>
          <a:prstGeom prst="roundRect">
            <a:avLst>
              <a:gd name="adj" fmla="val 16418"/>
            </a:avLst>
          </a:prstGeom>
          <a:solidFill>
            <a:srgbClr val="EAF4EE"/>
          </a:solidFill>
          <a:ln w="8890">
            <a:solidFill>
              <a:srgbClr val="EAF4EE">
                <a:alpha val="0"/>
              </a:srgbClr>
            </a:solidFill>
            <a:prstDash val="solid"/>
          </a:ln>
        </p:spPr>
      </p:sp>
      <p:sp>
        <p:nvSpPr>
          <p:cNvPr id="18" name="Text 16"/>
          <p:cNvSpPr/>
          <p:nvPr/>
        </p:nvSpPr>
        <p:spPr>
          <a:xfrm>
            <a:off x="960120" y="5212080"/>
            <a:ext cx="1947672" cy="265176"/>
          </a:xfrm>
          <a:prstGeom prst="rect">
            <a:avLst/>
          </a:prstGeom>
          <a:noFill/>
          <a:ln/>
        </p:spPr>
        <p:txBody>
          <a:bodyPr wrap="square" lIns="0" tIns="0" rIns="0" bIns="0" rtlCol="0" anchor="ctr">
            <a:normAutofit/>
          </a:bodyPr>
          <a:lstStyle/>
          <a:p>
            <a:pPr indent="0" marL="0">
              <a:buNone/>
            </a:pPr>
            <a:r>
              <a:rPr lang="en-US" sz="1600" b="1" dirty="0">
                <a:solidFill>
                  <a:srgbClr val="153842"/>
                </a:solidFill>
                <a:latin typeface="Aptos" pitchFamily="34" charset="0"/>
                <a:ea typeface="Aptos" pitchFamily="34" charset="-122"/>
                <a:cs typeface="Aptos" pitchFamily="34" charset="-120"/>
              </a:rPr>
              <a:t>No database</a:t>
            </a:r>
            <a:endParaRPr lang="en-US" sz="1600" dirty="0"/>
          </a:p>
        </p:txBody>
      </p:sp>
      <p:sp>
        <p:nvSpPr>
          <p:cNvPr id="19" name="Text 17"/>
          <p:cNvSpPr/>
          <p:nvPr/>
        </p:nvSpPr>
        <p:spPr>
          <a:xfrm>
            <a:off x="2852928" y="5212080"/>
            <a:ext cx="8138160" cy="274320"/>
          </a:xfrm>
          <a:prstGeom prst="rect">
            <a:avLst/>
          </a:prstGeom>
          <a:noFill/>
          <a:ln/>
        </p:spPr>
        <p:txBody>
          <a:bodyPr wrap="square" lIns="0" tIns="0" rIns="0" bIns="0" rtlCol="0" anchor="ctr">
            <a:normAutofit/>
          </a:bodyPr>
          <a:lstStyle/>
          <a:p>
            <a:pPr indent="0" marL="0">
              <a:buNone/>
            </a:pPr>
            <a:r>
              <a:rPr lang="en-US" sz="1550" dirty="0">
                <a:solidFill>
                  <a:srgbClr val="627B80"/>
                </a:solidFill>
                <a:latin typeface="Aptos" pitchFamily="34" charset="0"/>
                <a:ea typeface="Aptos" pitchFamily="34" charset="-122"/>
                <a:cs typeface="Aptos" pitchFamily="34" charset="-120"/>
              </a:rPr>
              <a:t>Local on-screen quotations; no records or uploads</a:t>
            </a:r>
            <a:endParaRPr lang="en-US" sz="1550" dirty="0"/>
          </a:p>
        </p:txBody>
      </p:sp>
      <p:sp>
        <p:nvSpPr>
          <p:cNvPr id="20" name="Shape 18"/>
          <p:cNvSpPr/>
          <p:nvPr/>
        </p:nvSpPr>
        <p:spPr>
          <a:xfrm>
            <a:off x="640080" y="6537960"/>
            <a:ext cx="10881360" cy="0"/>
          </a:xfrm>
          <a:prstGeom prst="line">
            <a:avLst/>
          </a:prstGeom>
          <a:noFill/>
          <a:ln w="12700">
            <a:solidFill>
              <a:srgbClr val="D7E6E1"/>
            </a:solidFill>
            <a:prstDash val="solid"/>
          </a:ln>
        </p:spPr>
      </p:sp>
      <p:sp>
        <p:nvSpPr>
          <p:cNvPr id="21" name="Text 19"/>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22" name="Text 20"/>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WEBSITE ARCHITECTURE</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Five clear pages</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Each page has a purpose, so students can navigate the business without confusion.</a:t>
            </a:r>
            <a:endParaRPr lang="en-US" sz="1500" dirty="0"/>
          </a:p>
        </p:txBody>
      </p:sp>
      <p:sp>
        <p:nvSpPr>
          <p:cNvPr id="5" name="Shape 3"/>
          <p:cNvSpPr/>
          <p:nvPr/>
        </p:nvSpPr>
        <p:spPr>
          <a:xfrm>
            <a:off x="777240" y="2029968"/>
            <a:ext cx="10607040" cy="640080"/>
          </a:xfrm>
          <a:prstGeom prst="roundRect">
            <a:avLst>
              <a:gd name="adj" fmla="val 18571"/>
            </a:avLst>
          </a:prstGeom>
          <a:solidFill>
            <a:srgbClr val="FFFFFF"/>
          </a:solidFill>
          <a:ln w="8890">
            <a:solidFill>
              <a:srgbClr val="D7E6E1"/>
            </a:solidFill>
            <a:prstDash val="solid"/>
          </a:ln>
        </p:spPr>
      </p:sp>
      <p:sp>
        <p:nvSpPr>
          <p:cNvPr id="6" name="Text 4"/>
          <p:cNvSpPr/>
          <p:nvPr/>
        </p:nvSpPr>
        <p:spPr>
          <a:xfrm>
            <a:off x="1005840" y="2139696"/>
            <a:ext cx="594360" cy="365760"/>
          </a:xfrm>
          <a:prstGeom prst="rect">
            <a:avLst/>
          </a:prstGeom>
          <a:noFill/>
          <a:ln/>
        </p:spPr>
        <p:txBody>
          <a:bodyPr wrap="square" lIns="0" tIns="0" rIns="0" bIns="0" rtlCol="0" anchor="ctr">
            <a:normAutofit/>
          </a:bodyPr>
          <a:lstStyle/>
          <a:p>
            <a:pPr indent="0" marL="0">
              <a:buNone/>
            </a:pPr>
            <a:r>
              <a:rPr lang="en-US" sz="2300" b="1" dirty="0">
                <a:solidFill>
                  <a:srgbClr val="22BE9B"/>
                </a:solidFill>
                <a:latin typeface="Aptos" pitchFamily="34" charset="0"/>
                <a:ea typeface="Aptos" pitchFamily="34" charset="-122"/>
                <a:cs typeface="Aptos" pitchFamily="34" charset="-120"/>
              </a:rPr>
              <a:t>01</a:t>
            </a:r>
            <a:endParaRPr lang="en-US" sz="2300" dirty="0"/>
          </a:p>
        </p:txBody>
      </p:sp>
      <p:sp>
        <p:nvSpPr>
          <p:cNvPr id="7" name="Text 5"/>
          <p:cNvSpPr/>
          <p:nvPr/>
        </p:nvSpPr>
        <p:spPr>
          <a:xfrm>
            <a:off x="1783080" y="2185416"/>
            <a:ext cx="2889504" cy="283464"/>
          </a:xfrm>
          <a:prstGeom prst="rect">
            <a:avLst/>
          </a:prstGeom>
          <a:noFill/>
          <a:ln/>
        </p:spPr>
        <p:txBody>
          <a:bodyPr wrap="square" lIns="0" tIns="0" rIns="0" bIns="0" rtlCol="0" anchor="ctr">
            <a:normAutofit/>
          </a:bodyPr>
          <a:lstStyle/>
          <a:p>
            <a:pPr indent="0" marL="0">
              <a:buNone/>
            </a:pPr>
            <a:r>
              <a:rPr lang="en-US" sz="1770" b="1" dirty="0">
                <a:solidFill>
                  <a:srgbClr val="153842"/>
                </a:solidFill>
                <a:latin typeface="Aptos" pitchFamily="34" charset="0"/>
                <a:ea typeface="Aptos" pitchFamily="34" charset="-122"/>
                <a:cs typeface="Aptos" pitchFamily="34" charset="-120"/>
              </a:rPr>
              <a:t>Home</a:t>
            </a:r>
            <a:endParaRPr lang="en-US" sz="1770" dirty="0"/>
          </a:p>
        </p:txBody>
      </p:sp>
      <p:sp>
        <p:nvSpPr>
          <p:cNvPr id="8" name="Text 6"/>
          <p:cNvSpPr/>
          <p:nvPr/>
        </p:nvSpPr>
        <p:spPr>
          <a:xfrm>
            <a:off x="4828032" y="2194560"/>
            <a:ext cx="6236208" cy="256032"/>
          </a:xfrm>
          <a:prstGeom prst="rect">
            <a:avLst/>
          </a:prstGeom>
          <a:noFill/>
          <a:ln/>
        </p:spPr>
        <p:txBody>
          <a:bodyPr wrap="square" lIns="0" tIns="0" rIns="0" bIns="0" rtlCol="0" anchor="ctr">
            <a:normAutofit/>
          </a:bodyPr>
          <a:lstStyle/>
          <a:p>
            <a:pPr indent="0" marL="0">
              <a:buNone/>
            </a:pPr>
            <a:r>
              <a:rPr lang="en-US" sz="1530" dirty="0">
                <a:solidFill>
                  <a:srgbClr val="627B80"/>
                </a:solidFill>
                <a:latin typeface="Aptos" pitchFamily="34" charset="0"/>
                <a:ea typeface="Aptos" pitchFamily="34" charset="-122"/>
                <a:cs typeface="Aptos" pitchFamily="34" charset="-120"/>
              </a:rPr>
              <a:t>Welcome, rates and student benefits</a:t>
            </a:r>
            <a:endParaRPr lang="en-US" sz="1530" dirty="0"/>
          </a:p>
        </p:txBody>
      </p:sp>
      <p:sp>
        <p:nvSpPr>
          <p:cNvPr id="9" name="Shape 7"/>
          <p:cNvSpPr/>
          <p:nvPr/>
        </p:nvSpPr>
        <p:spPr>
          <a:xfrm>
            <a:off x="777240" y="2798064"/>
            <a:ext cx="10607040" cy="640080"/>
          </a:xfrm>
          <a:prstGeom prst="roundRect">
            <a:avLst>
              <a:gd name="adj" fmla="val 18571"/>
            </a:avLst>
          </a:prstGeom>
          <a:solidFill>
            <a:srgbClr val="FFFFFF"/>
          </a:solidFill>
          <a:ln w="8890">
            <a:solidFill>
              <a:srgbClr val="D7E6E1"/>
            </a:solidFill>
            <a:prstDash val="solid"/>
          </a:ln>
        </p:spPr>
      </p:sp>
      <p:sp>
        <p:nvSpPr>
          <p:cNvPr id="10" name="Text 8"/>
          <p:cNvSpPr/>
          <p:nvPr/>
        </p:nvSpPr>
        <p:spPr>
          <a:xfrm>
            <a:off x="1005840" y="2907792"/>
            <a:ext cx="594360" cy="365760"/>
          </a:xfrm>
          <a:prstGeom prst="rect">
            <a:avLst/>
          </a:prstGeom>
          <a:noFill/>
          <a:ln/>
        </p:spPr>
        <p:txBody>
          <a:bodyPr wrap="square" lIns="0" tIns="0" rIns="0" bIns="0" rtlCol="0" anchor="ctr">
            <a:normAutofit/>
          </a:bodyPr>
          <a:lstStyle/>
          <a:p>
            <a:pPr indent="0" marL="0">
              <a:buNone/>
            </a:pPr>
            <a:r>
              <a:rPr lang="en-US" sz="2300" b="1" dirty="0">
                <a:solidFill>
                  <a:srgbClr val="22BE9B"/>
                </a:solidFill>
                <a:latin typeface="Aptos" pitchFamily="34" charset="0"/>
                <a:ea typeface="Aptos" pitchFamily="34" charset="-122"/>
                <a:cs typeface="Aptos" pitchFamily="34" charset="-120"/>
              </a:rPr>
              <a:t>02</a:t>
            </a:r>
            <a:endParaRPr lang="en-US" sz="2300" dirty="0"/>
          </a:p>
        </p:txBody>
      </p:sp>
      <p:sp>
        <p:nvSpPr>
          <p:cNvPr id="11" name="Text 9"/>
          <p:cNvSpPr/>
          <p:nvPr/>
        </p:nvSpPr>
        <p:spPr>
          <a:xfrm>
            <a:off x="1783080" y="2953512"/>
            <a:ext cx="2889504" cy="283464"/>
          </a:xfrm>
          <a:prstGeom prst="rect">
            <a:avLst/>
          </a:prstGeom>
          <a:noFill/>
          <a:ln/>
        </p:spPr>
        <p:txBody>
          <a:bodyPr wrap="square" lIns="0" tIns="0" rIns="0" bIns="0" rtlCol="0" anchor="ctr">
            <a:normAutofit/>
          </a:bodyPr>
          <a:lstStyle/>
          <a:p>
            <a:pPr indent="0" marL="0">
              <a:buNone/>
            </a:pPr>
            <a:r>
              <a:rPr lang="en-US" sz="1770" b="1" dirty="0">
                <a:solidFill>
                  <a:srgbClr val="153842"/>
                </a:solidFill>
                <a:latin typeface="Aptos" pitchFamily="34" charset="0"/>
                <a:ea typeface="Aptos" pitchFamily="34" charset="-122"/>
                <a:cs typeface="Aptos" pitchFamily="34" charset="-120"/>
              </a:rPr>
              <a:t>Services</a:t>
            </a:r>
            <a:endParaRPr lang="en-US" sz="1770" dirty="0"/>
          </a:p>
        </p:txBody>
      </p:sp>
      <p:sp>
        <p:nvSpPr>
          <p:cNvPr id="12" name="Text 10"/>
          <p:cNvSpPr/>
          <p:nvPr/>
        </p:nvSpPr>
        <p:spPr>
          <a:xfrm>
            <a:off x="4828032" y="2962656"/>
            <a:ext cx="6236208" cy="256032"/>
          </a:xfrm>
          <a:prstGeom prst="rect">
            <a:avLst/>
          </a:prstGeom>
          <a:noFill/>
          <a:ln/>
        </p:spPr>
        <p:txBody>
          <a:bodyPr wrap="square" lIns="0" tIns="0" rIns="0" bIns="0" rtlCol="0" anchor="ctr">
            <a:normAutofit/>
          </a:bodyPr>
          <a:lstStyle/>
          <a:p>
            <a:pPr indent="0" marL="0">
              <a:buNone/>
            </a:pPr>
            <a:r>
              <a:rPr lang="en-US" sz="1530" dirty="0">
                <a:solidFill>
                  <a:srgbClr val="627B80"/>
                </a:solidFill>
                <a:latin typeface="Aptos" pitchFamily="34" charset="0"/>
                <a:ea typeface="Aptos" pitchFamily="34" charset="-122"/>
                <a:cs typeface="Aptos" pitchFamily="34" charset="-120"/>
              </a:rPr>
              <a:t>Printing choices and per-page prices</a:t>
            </a:r>
            <a:endParaRPr lang="en-US" sz="1530" dirty="0"/>
          </a:p>
        </p:txBody>
      </p:sp>
      <p:sp>
        <p:nvSpPr>
          <p:cNvPr id="13" name="Shape 11"/>
          <p:cNvSpPr/>
          <p:nvPr/>
        </p:nvSpPr>
        <p:spPr>
          <a:xfrm>
            <a:off x="777240" y="3566160"/>
            <a:ext cx="10607040" cy="640080"/>
          </a:xfrm>
          <a:prstGeom prst="roundRect">
            <a:avLst>
              <a:gd name="adj" fmla="val 18571"/>
            </a:avLst>
          </a:prstGeom>
          <a:solidFill>
            <a:srgbClr val="FFFFFF"/>
          </a:solidFill>
          <a:ln w="8890">
            <a:solidFill>
              <a:srgbClr val="D7E6E1"/>
            </a:solidFill>
            <a:prstDash val="solid"/>
          </a:ln>
        </p:spPr>
      </p:sp>
      <p:sp>
        <p:nvSpPr>
          <p:cNvPr id="14" name="Text 12"/>
          <p:cNvSpPr/>
          <p:nvPr/>
        </p:nvSpPr>
        <p:spPr>
          <a:xfrm>
            <a:off x="1005840" y="3675888"/>
            <a:ext cx="594360" cy="365760"/>
          </a:xfrm>
          <a:prstGeom prst="rect">
            <a:avLst/>
          </a:prstGeom>
          <a:noFill/>
          <a:ln/>
        </p:spPr>
        <p:txBody>
          <a:bodyPr wrap="square" lIns="0" tIns="0" rIns="0" bIns="0" rtlCol="0" anchor="ctr">
            <a:normAutofit/>
          </a:bodyPr>
          <a:lstStyle/>
          <a:p>
            <a:pPr indent="0" marL="0">
              <a:buNone/>
            </a:pPr>
            <a:r>
              <a:rPr lang="en-US" sz="2300" b="1" dirty="0">
                <a:solidFill>
                  <a:srgbClr val="22BE9B"/>
                </a:solidFill>
                <a:latin typeface="Aptos" pitchFamily="34" charset="0"/>
                <a:ea typeface="Aptos" pitchFamily="34" charset="-122"/>
                <a:cs typeface="Aptos" pitchFamily="34" charset="-120"/>
              </a:rPr>
              <a:t>03</a:t>
            </a:r>
            <a:endParaRPr lang="en-US" sz="2300" dirty="0"/>
          </a:p>
        </p:txBody>
      </p:sp>
      <p:sp>
        <p:nvSpPr>
          <p:cNvPr id="15" name="Text 13"/>
          <p:cNvSpPr/>
          <p:nvPr/>
        </p:nvSpPr>
        <p:spPr>
          <a:xfrm>
            <a:off x="1783080" y="3721608"/>
            <a:ext cx="2889504" cy="283464"/>
          </a:xfrm>
          <a:prstGeom prst="rect">
            <a:avLst/>
          </a:prstGeom>
          <a:noFill/>
          <a:ln/>
        </p:spPr>
        <p:txBody>
          <a:bodyPr wrap="square" lIns="0" tIns="0" rIns="0" bIns="0" rtlCol="0" anchor="ctr">
            <a:normAutofit/>
          </a:bodyPr>
          <a:lstStyle/>
          <a:p>
            <a:pPr indent="0" marL="0">
              <a:buNone/>
            </a:pPr>
            <a:r>
              <a:rPr lang="en-US" sz="1770" b="1" dirty="0">
                <a:solidFill>
                  <a:srgbClr val="153842"/>
                </a:solidFill>
                <a:latin typeface="Aptos" pitchFamily="34" charset="0"/>
                <a:ea typeface="Aptos" pitchFamily="34" charset="-122"/>
                <a:cs typeface="Aptos" pitchFamily="34" charset="-120"/>
              </a:rPr>
              <a:t>Get a Quote</a:t>
            </a:r>
            <a:endParaRPr lang="en-US" sz="1770" dirty="0"/>
          </a:p>
        </p:txBody>
      </p:sp>
      <p:sp>
        <p:nvSpPr>
          <p:cNvPr id="16" name="Text 14"/>
          <p:cNvSpPr/>
          <p:nvPr/>
        </p:nvSpPr>
        <p:spPr>
          <a:xfrm>
            <a:off x="4828032" y="3730752"/>
            <a:ext cx="6236208" cy="256032"/>
          </a:xfrm>
          <a:prstGeom prst="rect">
            <a:avLst/>
          </a:prstGeom>
          <a:noFill/>
          <a:ln/>
        </p:spPr>
        <p:txBody>
          <a:bodyPr wrap="square" lIns="0" tIns="0" rIns="0" bIns="0" rtlCol="0" anchor="ctr">
            <a:normAutofit/>
          </a:bodyPr>
          <a:lstStyle/>
          <a:p>
            <a:pPr indent="0" marL="0">
              <a:buNone/>
            </a:pPr>
            <a:r>
              <a:rPr lang="en-US" sz="1530" dirty="0">
                <a:solidFill>
                  <a:srgbClr val="627B80"/>
                </a:solidFill>
                <a:latin typeface="Aptos" pitchFamily="34" charset="0"/>
                <a:ea typeface="Aptos" pitchFamily="34" charset="-122"/>
                <a:cs typeface="Aptos" pitchFamily="34" charset="-120"/>
              </a:rPr>
              <a:t>Interactive PyScript estimator</a:t>
            </a:r>
            <a:endParaRPr lang="en-US" sz="1530" dirty="0"/>
          </a:p>
        </p:txBody>
      </p:sp>
      <p:sp>
        <p:nvSpPr>
          <p:cNvPr id="17" name="Shape 15"/>
          <p:cNvSpPr/>
          <p:nvPr/>
        </p:nvSpPr>
        <p:spPr>
          <a:xfrm>
            <a:off x="777240" y="4334256"/>
            <a:ext cx="10607040" cy="640080"/>
          </a:xfrm>
          <a:prstGeom prst="roundRect">
            <a:avLst>
              <a:gd name="adj" fmla="val 18571"/>
            </a:avLst>
          </a:prstGeom>
          <a:solidFill>
            <a:srgbClr val="FFFFFF"/>
          </a:solidFill>
          <a:ln w="8890">
            <a:solidFill>
              <a:srgbClr val="D7E6E1"/>
            </a:solidFill>
            <a:prstDash val="solid"/>
          </a:ln>
        </p:spPr>
      </p:sp>
      <p:sp>
        <p:nvSpPr>
          <p:cNvPr id="18" name="Text 16"/>
          <p:cNvSpPr/>
          <p:nvPr/>
        </p:nvSpPr>
        <p:spPr>
          <a:xfrm>
            <a:off x="1005840" y="4443984"/>
            <a:ext cx="594360" cy="365760"/>
          </a:xfrm>
          <a:prstGeom prst="rect">
            <a:avLst/>
          </a:prstGeom>
          <a:noFill/>
          <a:ln/>
        </p:spPr>
        <p:txBody>
          <a:bodyPr wrap="square" lIns="0" tIns="0" rIns="0" bIns="0" rtlCol="0" anchor="ctr">
            <a:normAutofit/>
          </a:bodyPr>
          <a:lstStyle/>
          <a:p>
            <a:pPr indent="0" marL="0">
              <a:buNone/>
            </a:pPr>
            <a:r>
              <a:rPr lang="en-US" sz="2300" b="1" dirty="0">
                <a:solidFill>
                  <a:srgbClr val="22BE9B"/>
                </a:solidFill>
                <a:latin typeface="Aptos" pitchFamily="34" charset="0"/>
                <a:ea typeface="Aptos" pitchFamily="34" charset="-122"/>
                <a:cs typeface="Aptos" pitchFamily="34" charset="-120"/>
              </a:rPr>
              <a:t>04</a:t>
            </a:r>
            <a:endParaRPr lang="en-US" sz="2300" dirty="0"/>
          </a:p>
        </p:txBody>
      </p:sp>
      <p:sp>
        <p:nvSpPr>
          <p:cNvPr id="19" name="Text 17"/>
          <p:cNvSpPr/>
          <p:nvPr/>
        </p:nvSpPr>
        <p:spPr>
          <a:xfrm>
            <a:off x="1783080" y="4489704"/>
            <a:ext cx="2889504" cy="283464"/>
          </a:xfrm>
          <a:prstGeom prst="rect">
            <a:avLst/>
          </a:prstGeom>
          <a:noFill/>
          <a:ln/>
        </p:spPr>
        <p:txBody>
          <a:bodyPr wrap="square" lIns="0" tIns="0" rIns="0" bIns="0" rtlCol="0" anchor="ctr">
            <a:normAutofit/>
          </a:bodyPr>
          <a:lstStyle/>
          <a:p>
            <a:pPr indent="0" marL="0">
              <a:buNone/>
            </a:pPr>
            <a:r>
              <a:rPr lang="en-US" sz="1770" b="1" dirty="0">
                <a:solidFill>
                  <a:srgbClr val="153842"/>
                </a:solidFill>
                <a:latin typeface="Aptos" pitchFamily="34" charset="0"/>
                <a:ea typeface="Aptos" pitchFamily="34" charset="-122"/>
                <a:cs typeface="Aptos" pitchFamily="34" charset="-120"/>
              </a:rPr>
              <a:t>How It Works</a:t>
            </a:r>
            <a:endParaRPr lang="en-US" sz="1770" dirty="0"/>
          </a:p>
        </p:txBody>
      </p:sp>
      <p:sp>
        <p:nvSpPr>
          <p:cNvPr id="20" name="Text 18"/>
          <p:cNvSpPr/>
          <p:nvPr/>
        </p:nvSpPr>
        <p:spPr>
          <a:xfrm>
            <a:off x="4828032" y="4498848"/>
            <a:ext cx="6236208" cy="256032"/>
          </a:xfrm>
          <a:prstGeom prst="rect">
            <a:avLst/>
          </a:prstGeom>
          <a:noFill/>
          <a:ln/>
        </p:spPr>
        <p:txBody>
          <a:bodyPr wrap="square" lIns="0" tIns="0" rIns="0" bIns="0" rtlCol="0" anchor="ctr">
            <a:normAutofit/>
          </a:bodyPr>
          <a:lstStyle/>
          <a:p>
            <a:pPr indent="0" marL="0">
              <a:buNone/>
            </a:pPr>
            <a:r>
              <a:rPr lang="en-US" sz="1530" dirty="0">
                <a:solidFill>
                  <a:srgbClr val="627B80"/>
                </a:solidFill>
                <a:latin typeface="Aptos" pitchFamily="34" charset="0"/>
                <a:ea typeface="Aptos" pitchFamily="34" charset="-122"/>
                <a:cs typeface="Aptos" pitchFamily="34" charset="-120"/>
              </a:rPr>
              <a:t>Proposed process and FAQ</a:t>
            </a:r>
            <a:endParaRPr lang="en-US" sz="1530" dirty="0"/>
          </a:p>
        </p:txBody>
      </p:sp>
      <p:sp>
        <p:nvSpPr>
          <p:cNvPr id="21" name="Shape 19"/>
          <p:cNvSpPr/>
          <p:nvPr/>
        </p:nvSpPr>
        <p:spPr>
          <a:xfrm>
            <a:off x="777240" y="5102352"/>
            <a:ext cx="10607040" cy="640080"/>
          </a:xfrm>
          <a:prstGeom prst="roundRect">
            <a:avLst>
              <a:gd name="adj" fmla="val 18571"/>
            </a:avLst>
          </a:prstGeom>
          <a:solidFill>
            <a:srgbClr val="FFFFFF"/>
          </a:solidFill>
          <a:ln w="8890">
            <a:solidFill>
              <a:srgbClr val="D7E6E1"/>
            </a:solidFill>
            <a:prstDash val="solid"/>
          </a:ln>
        </p:spPr>
      </p:sp>
      <p:sp>
        <p:nvSpPr>
          <p:cNvPr id="22" name="Text 20"/>
          <p:cNvSpPr/>
          <p:nvPr/>
        </p:nvSpPr>
        <p:spPr>
          <a:xfrm>
            <a:off x="1005840" y="5212080"/>
            <a:ext cx="594360" cy="365760"/>
          </a:xfrm>
          <a:prstGeom prst="rect">
            <a:avLst/>
          </a:prstGeom>
          <a:noFill/>
          <a:ln/>
        </p:spPr>
        <p:txBody>
          <a:bodyPr wrap="square" lIns="0" tIns="0" rIns="0" bIns="0" rtlCol="0" anchor="ctr">
            <a:normAutofit/>
          </a:bodyPr>
          <a:lstStyle/>
          <a:p>
            <a:pPr indent="0" marL="0">
              <a:buNone/>
            </a:pPr>
            <a:r>
              <a:rPr lang="en-US" sz="2300" b="1" dirty="0">
                <a:solidFill>
                  <a:srgbClr val="22BE9B"/>
                </a:solidFill>
                <a:latin typeface="Aptos" pitchFamily="34" charset="0"/>
                <a:ea typeface="Aptos" pitchFamily="34" charset="-122"/>
                <a:cs typeface="Aptos" pitchFamily="34" charset="-120"/>
              </a:rPr>
              <a:t>05</a:t>
            </a:r>
            <a:endParaRPr lang="en-US" sz="2300" dirty="0"/>
          </a:p>
        </p:txBody>
      </p:sp>
      <p:sp>
        <p:nvSpPr>
          <p:cNvPr id="23" name="Text 21"/>
          <p:cNvSpPr/>
          <p:nvPr/>
        </p:nvSpPr>
        <p:spPr>
          <a:xfrm>
            <a:off x="1783080" y="5257800"/>
            <a:ext cx="2889504" cy="283464"/>
          </a:xfrm>
          <a:prstGeom prst="rect">
            <a:avLst/>
          </a:prstGeom>
          <a:noFill/>
          <a:ln/>
        </p:spPr>
        <p:txBody>
          <a:bodyPr wrap="square" lIns="0" tIns="0" rIns="0" bIns="0" rtlCol="0" anchor="ctr">
            <a:normAutofit/>
          </a:bodyPr>
          <a:lstStyle/>
          <a:p>
            <a:pPr indent="0" marL="0">
              <a:buNone/>
            </a:pPr>
            <a:r>
              <a:rPr lang="en-US" sz="1770" b="1" dirty="0">
                <a:solidFill>
                  <a:srgbClr val="153842"/>
                </a:solidFill>
                <a:latin typeface="Aptos" pitchFamily="34" charset="0"/>
                <a:ea typeface="Aptos" pitchFamily="34" charset="-122"/>
                <a:cs typeface="Aptos" pitchFamily="34" charset="-120"/>
              </a:rPr>
              <a:t>About</a:t>
            </a:r>
            <a:endParaRPr lang="en-US" sz="1770" dirty="0"/>
          </a:p>
        </p:txBody>
      </p:sp>
      <p:sp>
        <p:nvSpPr>
          <p:cNvPr id="24" name="Text 22"/>
          <p:cNvSpPr/>
          <p:nvPr/>
        </p:nvSpPr>
        <p:spPr>
          <a:xfrm>
            <a:off x="4828032" y="5266944"/>
            <a:ext cx="6236208" cy="256032"/>
          </a:xfrm>
          <a:prstGeom prst="rect">
            <a:avLst/>
          </a:prstGeom>
          <a:noFill/>
          <a:ln/>
        </p:spPr>
        <p:txBody>
          <a:bodyPr wrap="square" lIns="0" tIns="0" rIns="0" bIns="0" rtlCol="0" anchor="ctr">
            <a:normAutofit/>
          </a:bodyPr>
          <a:lstStyle/>
          <a:p>
            <a:pPr indent="0" marL="0">
              <a:buNone/>
            </a:pPr>
            <a:r>
              <a:rPr lang="en-US" sz="1530" dirty="0">
                <a:solidFill>
                  <a:srgbClr val="627B80"/>
                </a:solidFill>
                <a:latin typeface="Aptos" pitchFamily="34" charset="0"/>
                <a:ea typeface="Aptos" pitchFamily="34" charset="-122"/>
                <a:cs typeface="Aptos" pitchFamily="34" charset="-120"/>
              </a:rPr>
              <a:t>Founders, mission and survey data</a:t>
            </a:r>
            <a:endParaRPr lang="en-US" sz="1530" dirty="0"/>
          </a:p>
        </p:txBody>
      </p:sp>
      <p:sp>
        <p:nvSpPr>
          <p:cNvPr id="25" name="Shape 23"/>
          <p:cNvSpPr/>
          <p:nvPr/>
        </p:nvSpPr>
        <p:spPr>
          <a:xfrm>
            <a:off x="640080" y="6537960"/>
            <a:ext cx="10881360" cy="0"/>
          </a:xfrm>
          <a:prstGeom prst="line">
            <a:avLst/>
          </a:prstGeom>
          <a:noFill/>
          <a:ln w="12700">
            <a:solidFill>
              <a:srgbClr val="D7E6E1"/>
            </a:solidFill>
            <a:prstDash val="solid"/>
          </a:ln>
        </p:spPr>
      </p:sp>
      <p:sp>
        <p:nvSpPr>
          <p:cNvPr id="26" name="Text 24"/>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27" name="Text 25"/>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WEBSITE DEMONSTRATION</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Home page</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First impression: brand, service value and a direct call to action.</a:t>
            </a:r>
            <a:endParaRPr lang="en-US" sz="1500" dirty="0"/>
          </a:p>
        </p:txBody>
      </p:sp>
      <p:sp>
        <p:nvSpPr>
          <p:cNvPr id="5" name="Shape 3"/>
          <p:cNvSpPr/>
          <p:nvPr/>
        </p:nvSpPr>
        <p:spPr>
          <a:xfrm>
            <a:off x="653796" y="1924812"/>
            <a:ext cx="8293608" cy="4096512"/>
          </a:xfrm>
          <a:prstGeom prst="roundRect">
            <a:avLst>
              <a:gd name="adj" fmla="val 3125"/>
            </a:avLst>
          </a:prstGeom>
          <a:solidFill>
            <a:srgbClr val="FFFFFF"/>
          </a:solidFill>
          <a:ln w="8890">
            <a:solidFill>
              <a:srgbClr val="D3E1DD"/>
            </a:solidFill>
            <a:prstDash val="solid"/>
          </a:ln>
        </p:spPr>
      </p:sp>
      <p:pic>
        <p:nvPicPr>
          <p:cNvPr id="6" name="Image 0" descr="/mnt/data/PrintConnect_EVD/presentation_assets/website_index.png">    </p:cNvPr>
          <p:cNvPicPr>
            <a:picLocks noChangeAspect="1"/>
          </p:cNvPicPr>
          <p:nvPr/>
        </p:nvPicPr>
        <p:blipFill>
          <a:blip r:embed="rId1"/>
          <a:stretch>
            <a:fillRect/>
          </a:stretch>
        </p:blipFill>
        <p:spPr>
          <a:xfrm>
            <a:off x="685800" y="1956816"/>
            <a:ext cx="8229600" cy="4032504"/>
          </a:xfrm>
          <a:prstGeom prst="rect">
            <a:avLst/>
          </a:prstGeom>
        </p:spPr>
      </p:pic>
      <p:sp>
        <p:nvSpPr>
          <p:cNvPr id="7" name="Shape 4"/>
          <p:cNvSpPr/>
          <p:nvPr/>
        </p:nvSpPr>
        <p:spPr>
          <a:xfrm>
            <a:off x="9144000" y="2084832"/>
            <a:ext cx="2368296" cy="3584448"/>
          </a:xfrm>
          <a:prstGeom prst="roundRect">
            <a:avLst>
              <a:gd name="adj" fmla="val 6950"/>
            </a:avLst>
          </a:prstGeom>
          <a:solidFill>
            <a:srgbClr val="E7F5EF"/>
          </a:solidFill>
          <a:ln w="8890">
            <a:solidFill>
              <a:srgbClr val="E7F5EF">
                <a:alpha val="0"/>
              </a:srgbClr>
            </a:solidFill>
            <a:prstDash val="solid"/>
          </a:ln>
        </p:spPr>
      </p:sp>
      <p:sp>
        <p:nvSpPr>
          <p:cNvPr id="8" name="Text 5"/>
          <p:cNvSpPr/>
          <p:nvPr/>
        </p:nvSpPr>
        <p:spPr>
          <a:xfrm>
            <a:off x="9363456" y="2359152"/>
            <a:ext cx="1920240" cy="411480"/>
          </a:xfrm>
          <a:prstGeom prst="rect">
            <a:avLst/>
          </a:prstGeom>
          <a:noFill/>
          <a:ln/>
        </p:spPr>
        <p:txBody>
          <a:bodyPr wrap="square" lIns="0" tIns="0" rIns="0" bIns="0" rtlCol="0" anchor="ctr">
            <a:normAutofit/>
          </a:bodyPr>
          <a:lstStyle/>
          <a:p>
            <a:pPr indent="0" marL="0">
              <a:buNone/>
            </a:pPr>
            <a:r>
              <a:rPr lang="en-US" sz="2000" b="1" dirty="0">
                <a:solidFill>
                  <a:srgbClr val="153842"/>
                </a:solidFill>
                <a:latin typeface="Aptos" pitchFamily="34" charset="0"/>
                <a:ea typeface="Aptos" pitchFamily="34" charset="-122"/>
                <a:cs typeface="Aptos" pitchFamily="34" charset="-120"/>
              </a:rPr>
              <a:t>What to show</a:t>
            </a:r>
            <a:endParaRPr lang="en-US" sz="2000" dirty="0"/>
          </a:p>
        </p:txBody>
      </p:sp>
      <p:sp>
        <p:nvSpPr>
          <p:cNvPr id="9" name="Shape 6"/>
          <p:cNvSpPr/>
          <p:nvPr/>
        </p:nvSpPr>
        <p:spPr>
          <a:xfrm>
            <a:off x="9372600" y="3008376"/>
            <a:ext cx="100584" cy="100584"/>
          </a:xfrm>
          <a:prstGeom prst="roundRect">
            <a:avLst>
              <a:gd name="adj" fmla="val 54545"/>
            </a:avLst>
          </a:prstGeom>
          <a:solidFill>
            <a:srgbClr val="22BE9B"/>
          </a:solidFill>
          <a:ln w="8890">
            <a:solidFill>
              <a:srgbClr val="22BE9B">
                <a:alpha val="0"/>
              </a:srgbClr>
            </a:solidFill>
            <a:prstDash val="solid"/>
          </a:ln>
        </p:spPr>
      </p:sp>
      <p:sp>
        <p:nvSpPr>
          <p:cNvPr id="10" name="Text 7"/>
          <p:cNvSpPr/>
          <p:nvPr/>
        </p:nvSpPr>
        <p:spPr>
          <a:xfrm>
            <a:off x="9601200" y="2944368"/>
            <a:ext cx="1618488" cy="566928"/>
          </a:xfrm>
          <a:prstGeom prst="rect">
            <a:avLst/>
          </a:prstGeom>
          <a:noFill/>
          <a:ln/>
        </p:spPr>
        <p:txBody>
          <a:bodyPr wrap="square" lIns="0" tIns="0" rIns="0" bIns="0" rtlCol="0" anchor="ctr">
            <a:normAutofit/>
          </a:bodyPr>
          <a:lstStyle/>
          <a:p>
            <a:pPr indent="0" marL="0">
              <a:buNone/>
            </a:pPr>
            <a:r>
              <a:rPr lang="en-US" sz="1400" dirty="0">
                <a:solidFill>
                  <a:srgbClr val="153842"/>
                </a:solidFill>
                <a:latin typeface="Aptos" pitchFamily="34" charset="0"/>
                <a:ea typeface="Aptos" pitchFamily="34" charset="-122"/>
                <a:cs typeface="Aptos" pitchFamily="34" charset="-120"/>
              </a:rPr>
              <a:t>Brand and headline</a:t>
            </a:r>
            <a:endParaRPr lang="en-US" sz="1400" dirty="0"/>
          </a:p>
        </p:txBody>
      </p:sp>
      <p:sp>
        <p:nvSpPr>
          <p:cNvPr id="11" name="Shape 8"/>
          <p:cNvSpPr/>
          <p:nvPr/>
        </p:nvSpPr>
        <p:spPr>
          <a:xfrm>
            <a:off x="9372600" y="3767328"/>
            <a:ext cx="100584" cy="100584"/>
          </a:xfrm>
          <a:prstGeom prst="roundRect">
            <a:avLst>
              <a:gd name="adj" fmla="val 54545"/>
            </a:avLst>
          </a:prstGeom>
          <a:solidFill>
            <a:srgbClr val="22BE9B"/>
          </a:solidFill>
          <a:ln w="8890">
            <a:solidFill>
              <a:srgbClr val="22BE9B">
                <a:alpha val="0"/>
              </a:srgbClr>
            </a:solidFill>
            <a:prstDash val="solid"/>
          </a:ln>
        </p:spPr>
      </p:sp>
      <p:sp>
        <p:nvSpPr>
          <p:cNvPr id="12" name="Text 9"/>
          <p:cNvSpPr/>
          <p:nvPr/>
        </p:nvSpPr>
        <p:spPr>
          <a:xfrm>
            <a:off x="9601200" y="3703320"/>
            <a:ext cx="1618488" cy="566928"/>
          </a:xfrm>
          <a:prstGeom prst="rect">
            <a:avLst/>
          </a:prstGeom>
          <a:noFill/>
          <a:ln/>
        </p:spPr>
        <p:txBody>
          <a:bodyPr wrap="square" lIns="0" tIns="0" rIns="0" bIns="0" rtlCol="0" anchor="ctr">
            <a:normAutofit/>
          </a:bodyPr>
          <a:lstStyle/>
          <a:p>
            <a:pPr indent="0" marL="0">
              <a:buNone/>
            </a:pPr>
            <a:r>
              <a:rPr lang="en-US" sz="1400" dirty="0">
                <a:solidFill>
                  <a:srgbClr val="153842"/>
                </a:solidFill>
                <a:latin typeface="Aptos" pitchFamily="34" charset="0"/>
                <a:ea typeface="Aptos" pitchFamily="34" charset="-122"/>
                <a:cs typeface="Aptos" pitchFamily="34" charset="-120"/>
              </a:rPr>
              <a:t>₱2 / ₱5 rates</a:t>
            </a:r>
            <a:endParaRPr lang="en-US" sz="1400" dirty="0"/>
          </a:p>
        </p:txBody>
      </p:sp>
      <p:sp>
        <p:nvSpPr>
          <p:cNvPr id="13" name="Shape 10"/>
          <p:cNvSpPr/>
          <p:nvPr/>
        </p:nvSpPr>
        <p:spPr>
          <a:xfrm>
            <a:off x="9372600" y="4526280"/>
            <a:ext cx="100584" cy="100584"/>
          </a:xfrm>
          <a:prstGeom prst="roundRect">
            <a:avLst>
              <a:gd name="adj" fmla="val 54545"/>
            </a:avLst>
          </a:prstGeom>
          <a:solidFill>
            <a:srgbClr val="22BE9B"/>
          </a:solidFill>
          <a:ln w="8890">
            <a:solidFill>
              <a:srgbClr val="22BE9B">
                <a:alpha val="0"/>
              </a:srgbClr>
            </a:solidFill>
            <a:prstDash val="solid"/>
          </a:ln>
        </p:spPr>
      </p:sp>
      <p:sp>
        <p:nvSpPr>
          <p:cNvPr id="14" name="Text 11"/>
          <p:cNvSpPr/>
          <p:nvPr/>
        </p:nvSpPr>
        <p:spPr>
          <a:xfrm>
            <a:off x="9601200" y="4462272"/>
            <a:ext cx="1618488" cy="566928"/>
          </a:xfrm>
          <a:prstGeom prst="rect">
            <a:avLst/>
          </a:prstGeom>
          <a:noFill/>
          <a:ln/>
        </p:spPr>
        <p:txBody>
          <a:bodyPr wrap="square" lIns="0" tIns="0" rIns="0" bIns="0" rtlCol="0" anchor="ctr">
            <a:normAutofit/>
          </a:bodyPr>
          <a:lstStyle/>
          <a:p>
            <a:pPr indent="0" marL="0">
              <a:buNone/>
            </a:pPr>
            <a:r>
              <a:rPr lang="en-US" sz="1400" dirty="0">
                <a:solidFill>
                  <a:srgbClr val="153842"/>
                </a:solidFill>
                <a:latin typeface="Aptos" pitchFamily="34" charset="0"/>
                <a:ea typeface="Aptos" pitchFamily="34" charset="-122"/>
                <a:cs typeface="Aptos" pitchFamily="34" charset="-120"/>
              </a:rPr>
              <a:t>Quote button</a:t>
            </a:r>
            <a:endParaRPr lang="en-US" sz="1400" dirty="0"/>
          </a:p>
        </p:txBody>
      </p:sp>
      <p:sp>
        <p:nvSpPr>
          <p:cNvPr id="15" name="Shape 12"/>
          <p:cNvSpPr/>
          <p:nvPr/>
        </p:nvSpPr>
        <p:spPr>
          <a:xfrm>
            <a:off x="640080" y="6537960"/>
            <a:ext cx="10881360" cy="0"/>
          </a:xfrm>
          <a:prstGeom prst="line">
            <a:avLst/>
          </a:prstGeom>
          <a:noFill/>
          <a:ln w="12700">
            <a:solidFill>
              <a:srgbClr val="D7E6E1"/>
            </a:solidFill>
            <a:prstDash val="solid"/>
          </a:ln>
        </p:spPr>
      </p:sp>
      <p:sp>
        <p:nvSpPr>
          <p:cNvPr id="16" name="Text 13"/>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17" name="Text 14"/>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WEBSITE DEMONSTRATION</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Services and About pages</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Students can view pricing and see who proposed the PrintConnect business.</a:t>
            </a:r>
            <a:endParaRPr lang="en-US" sz="1500" dirty="0"/>
          </a:p>
        </p:txBody>
      </p:sp>
      <p:sp>
        <p:nvSpPr>
          <p:cNvPr id="5" name="Shape 3"/>
          <p:cNvSpPr/>
          <p:nvPr/>
        </p:nvSpPr>
        <p:spPr>
          <a:xfrm>
            <a:off x="653796" y="1988820"/>
            <a:ext cx="5394960" cy="3401568"/>
          </a:xfrm>
          <a:prstGeom prst="roundRect">
            <a:avLst>
              <a:gd name="adj" fmla="val 3763"/>
            </a:avLst>
          </a:prstGeom>
          <a:solidFill>
            <a:srgbClr val="FFFFFF"/>
          </a:solidFill>
          <a:ln w="8890">
            <a:solidFill>
              <a:srgbClr val="D3E1DD"/>
            </a:solidFill>
            <a:prstDash val="solid"/>
          </a:ln>
        </p:spPr>
      </p:sp>
      <p:pic>
        <p:nvPicPr>
          <p:cNvPr id="6" name="Image 0" descr="/mnt/data/PrintConnect_EVD/presentation_assets/website_services.png">    </p:cNvPr>
          <p:cNvPicPr>
            <a:picLocks noChangeAspect="1"/>
          </p:cNvPicPr>
          <p:nvPr/>
        </p:nvPicPr>
        <p:blipFill>
          <a:blip r:embed="rId1"/>
          <a:stretch>
            <a:fillRect/>
          </a:stretch>
        </p:blipFill>
        <p:spPr>
          <a:xfrm>
            <a:off x="685800" y="2020824"/>
            <a:ext cx="5330952" cy="3337560"/>
          </a:xfrm>
          <a:prstGeom prst="rect">
            <a:avLst/>
          </a:prstGeom>
        </p:spPr>
      </p:pic>
      <p:sp>
        <p:nvSpPr>
          <p:cNvPr id="7" name="Shape 4"/>
          <p:cNvSpPr/>
          <p:nvPr/>
        </p:nvSpPr>
        <p:spPr>
          <a:xfrm>
            <a:off x="6149340" y="1988820"/>
            <a:ext cx="5394960" cy="3401568"/>
          </a:xfrm>
          <a:prstGeom prst="roundRect">
            <a:avLst>
              <a:gd name="adj" fmla="val 3763"/>
            </a:avLst>
          </a:prstGeom>
          <a:solidFill>
            <a:srgbClr val="FFFFFF"/>
          </a:solidFill>
          <a:ln w="8890">
            <a:solidFill>
              <a:srgbClr val="D3E1DD"/>
            </a:solidFill>
            <a:prstDash val="solid"/>
          </a:ln>
        </p:spPr>
      </p:sp>
      <p:pic>
        <p:nvPicPr>
          <p:cNvPr id="8" name="Image 1" descr="/mnt/data/PrintConnect_EVD/presentation_assets/website_about.png">    </p:cNvPr>
          <p:cNvPicPr>
            <a:picLocks noChangeAspect="1"/>
          </p:cNvPicPr>
          <p:nvPr/>
        </p:nvPicPr>
        <p:blipFill>
          <a:blip r:embed="rId2"/>
          <a:stretch>
            <a:fillRect/>
          </a:stretch>
        </p:blipFill>
        <p:spPr>
          <a:xfrm>
            <a:off x="6181344" y="2020824"/>
            <a:ext cx="5330952" cy="3337560"/>
          </a:xfrm>
          <a:prstGeom prst="rect">
            <a:avLst/>
          </a:prstGeom>
        </p:spPr>
      </p:pic>
      <p:sp>
        <p:nvSpPr>
          <p:cNvPr id="9" name="Text 5"/>
          <p:cNvSpPr/>
          <p:nvPr/>
        </p:nvSpPr>
        <p:spPr>
          <a:xfrm>
            <a:off x="768096" y="5559552"/>
            <a:ext cx="5212080" cy="320040"/>
          </a:xfrm>
          <a:prstGeom prst="rect">
            <a:avLst/>
          </a:prstGeom>
          <a:noFill/>
          <a:ln/>
        </p:spPr>
        <p:txBody>
          <a:bodyPr wrap="square" lIns="0" tIns="0" rIns="0" bIns="0" rtlCol="0" anchor="ctr">
            <a:normAutofit/>
          </a:bodyPr>
          <a:lstStyle/>
          <a:p>
            <a:pPr indent="0" marL="0">
              <a:buNone/>
            </a:pPr>
            <a:r>
              <a:rPr lang="en-US" sz="1600" b="1" dirty="0">
                <a:solidFill>
                  <a:srgbClr val="153842"/>
                </a:solidFill>
                <a:latin typeface="Aptos" pitchFamily="34" charset="0"/>
                <a:ea typeface="Aptos" pitchFamily="34" charset="-122"/>
                <a:cs typeface="Aptos" pitchFamily="34" charset="-120"/>
              </a:rPr>
              <a:t>SERVICES: rates and planned offers</a:t>
            </a:r>
            <a:endParaRPr lang="en-US" sz="1600" dirty="0"/>
          </a:p>
        </p:txBody>
      </p:sp>
      <p:sp>
        <p:nvSpPr>
          <p:cNvPr id="10" name="Text 6"/>
          <p:cNvSpPr/>
          <p:nvPr/>
        </p:nvSpPr>
        <p:spPr>
          <a:xfrm>
            <a:off x="6254496" y="5559552"/>
            <a:ext cx="5212080" cy="320040"/>
          </a:xfrm>
          <a:prstGeom prst="rect">
            <a:avLst/>
          </a:prstGeom>
          <a:noFill/>
          <a:ln/>
        </p:spPr>
        <p:txBody>
          <a:bodyPr wrap="square" lIns="0" tIns="0" rIns="0" bIns="0" rtlCol="0" anchor="ctr">
            <a:normAutofit/>
          </a:bodyPr>
          <a:lstStyle/>
          <a:p>
            <a:pPr indent="0" marL="0">
              <a:buNone/>
            </a:pPr>
            <a:r>
              <a:rPr lang="en-US" sz="1600" b="1" dirty="0">
                <a:solidFill>
                  <a:srgbClr val="153842"/>
                </a:solidFill>
                <a:latin typeface="Aptos" pitchFamily="34" charset="0"/>
                <a:ea typeface="Aptos" pitchFamily="34" charset="-122"/>
                <a:cs typeface="Aptos" pitchFamily="34" charset="-120"/>
              </a:rPr>
              <a:t>ABOUT: founders and survey evidence</a:t>
            </a:r>
            <a:endParaRPr lang="en-US" sz="1600" dirty="0"/>
          </a:p>
        </p:txBody>
      </p:sp>
      <p:sp>
        <p:nvSpPr>
          <p:cNvPr id="11" name="Shape 7"/>
          <p:cNvSpPr/>
          <p:nvPr/>
        </p:nvSpPr>
        <p:spPr>
          <a:xfrm>
            <a:off x="640080" y="6537960"/>
            <a:ext cx="10881360" cy="0"/>
          </a:xfrm>
          <a:prstGeom prst="line">
            <a:avLst/>
          </a:prstGeom>
          <a:noFill/>
          <a:ln w="12700">
            <a:solidFill>
              <a:srgbClr val="D7E6E1"/>
            </a:solidFill>
            <a:prstDash val="solid"/>
          </a:ln>
        </p:spPr>
      </p:sp>
      <p:sp>
        <p:nvSpPr>
          <p:cNvPr id="12" name="Text 8"/>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13" name="Text 9"/>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ZIANNE’S CODE CONTRIBUTION</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HTML structure and founder information</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Actual HTML excerpt assigned to Zianne B. Pontanar.</a:t>
            </a:r>
            <a:endParaRPr lang="en-US" sz="1500" dirty="0"/>
          </a:p>
        </p:txBody>
      </p:sp>
      <p:sp>
        <p:nvSpPr>
          <p:cNvPr id="5" name="Shape 3"/>
          <p:cNvSpPr/>
          <p:nvPr/>
        </p:nvSpPr>
        <p:spPr>
          <a:xfrm>
            <a:off x="626364" y="1833372"/>
            <a:ext cx="8887968" cy="4645152"/>
          </a:xfrm>
          <a:prstGeom prst="roundRect">
            <a:avLst>
              <a:gd name="adj" fmla="val 2756"/>
            </a:avLst>
          </a:prstGeom>
          <a:solidFill>
            <a:srgbClr val="FFFFFF"/>
          </a:solidFill>
          <a:ln w="8890">
            <a:solidFill>
              <a:srgbClr val="D3E1DD"/>
            </a:solidFill>
            <a:prstDash val="solid"/>
          </a:ln>
        </p:spPr>
      </p:sp>
      <p:pic>
        <p:nvPicPr>
          <p:cNvPr id="6" name="Image 0" descr="/mnt/data/PrintConnect_EVD/presentation_assets/code_zianne_html.png">    </p:cNvPr>
          <p:cNvPicPr>
            <a:picLocks noChangeAspect="1"/>
          </p:cNvPicPr>
          <p:nvPr/>
        </p:nvPicPr>
        <p:blipFill>
          <a:blip r:embed="rId1"/>
          <a:stretch>
            <a:fillRect/>
          </a:stretch>
        </p:blipFill>
        <p:spPr>
          <a:xfrm>
            <a:off x="658368" y="1865376"/>
            <a:ext cx="8823960" cy="4581144"/>
          </a:xfrm>
          <a:prstGeom prst="rect">
            <a:avLst/>
          </a:prstGeom>
        </p:spPr>
      </p:pic>
      <p:sp>
        <p:nvSpPr>
          <p:cNvPr id="7" name="Shape 4"/>
          <p:cNvSpPr/>
          <p:nvPr/>
        </p:nvSpPr>
        <p:spPr>
          <a:xfrm>
            <a:off x="9710928" y="1929384"/>
            <a:ext cx="1856232" cy="4416552"/>
          </a:xfrm>
          <a:prstGeom prst="roundRect">
            <a:avLst>
              <a:gd name="adj" fmla="val 8867"/>
            </a:avLst>
          </a:prstGeom>
          <a:solidFill>
            <a:srgbClr val="E8F4EF"/>
          </a:solidFill>
          <a:ln w="8890">
            <a:solidFill>
              <a:srgbClr val="E8F4EF">
                <a:alpha val="0"/>
              </a:srgbClr>
            </a:solidFill>
            <a:prstDash val="solid"/>
          </a:ln>
        </p:spPr>
      </p:sp>
      <p:sp>
        <p:nvSpPr>
          <p:cNvPr id="8" name="Text 5"/>
          <p:cNvSpPr/>
          <p:nvPr/>
        </p:nvSpPr>
        <p:spPr>
          <a:xfrm>
            <a:off x="9930384" y="2176272"/>
            <a:ext cx="1417320" cy="365760"/>
          </a:xfrm>
          <a:prstGeom prst="rect">
            <a:avLst/>
          </a:prstGeom>
          <a:noFill/>
          <a:ln/>
        </p:spPr>
        <p:txBody>
          <a:bodyPr wrap="square" lIns="0" tIns="0" rIns="0" bIns="0" rtlCol="0" anchor="ctr">
            <a:normAutofit/>
          </a:bodyPr>
          <a:lstStyle/>
          <a:p>
            <a:pPr indent="0" marL="0">
              <a:buNone/>
            </a:pPr>
            <a:r>
              <a:rPr lang="en-US" sz="1800" b="1" dirty="0">
                <a:solidFill>
                  <a:srgbClr val="153842"/>
                </a:solidFill>
                <a:latin typeface="Aptos" pitchFamily="34" charset="0"/>
                <a:ea typeface="Aptos" pitchFamily="34" charset="-122"/>
                <a:cs typeface="Aptos" pitchFamily="34" charset="-120"/>
              </a:rPr>
              <a:t>Key points</a:t>
            </a:r>
            <a:endParaRPr lang="en-US" sz="1800" dirty="0"/>
          </a:p>
        </p:txBody>
      </p:sp>
      <p:sp>
        <p:nvSpPr>
          <p:cNvPr id="9" name="Shape 6"/>
          <p:cNvSpPr/>
          <p:nvPr/>
        </p:nvSpPr>
        <p:spPr>
          <a:xfrm>
            <a:off x="9902952" y="2852928"/>
            <a:ext cx="100584" cy="100584"/>
          </a:xfrm>
          <a:prstGeom prst="roundRect">
            <a:avLst>
              <a:gd name="adj" fmla="val 54545"/>
            </a:avLst>
          </a:prstGeom>
          <a:solidFill>
            <a:srgbClr val="22BE9B"/>
          </a:solidFill>
          <a:ln w="8890">
            <a:solidFill>
              <a:srgbClr val="22BE9B">
                <a:alpha val="0"/>
              </a:srgbClr>
            </a:solidFill>
            <a:prstDash val="solid"/>
          </a:ln>
        </p:spPr>
      </p:sp>
      <p:sp>
        <p:nvSpPr>
          <p:cNvPr id="10" name="Text 7"/>
          <p:cNvSpPr/>
          <p:nvPr/>
        </p:nvSpPr>
        <p:spPr>
          <a:xfrm>
            <a:off x="10131552" y="2788920"/>
            <a:ext cx="1234440" cy="566928"/>
          </a:xfrm>
          <a:prstGeom prst="rect">
            <a:avLst/>
          </a:prstGeom>
          <a:noFill/>
          <a:ln/>
        </p:spPr>
        <p:txBody>
          <a:bodyPr wrap="square" lIns="0" tIns="0" rIns="0" bIns="0" rtlCol="0" anchor="ctr">
            <a:normAutofit/>
          </a:bodyPr>
          <a:lstStyle/>
          <a:p>
            <a:pPr indent="0" marL="0">
              <a:buNone/>
            </a:pPr>
            <a:r>
              <a:rPr lang="en-US" sz="1400" dirty="0">
                <a:solidFill>
                  <a:srgbClr val="153842"/>
                </a:solidFill>
                <a:latin typeface="Aptos" pitchFamily="34" charset="0"/>
                <a:ea typeface="Aptos" pitchFamily="34" charset="-122"/>
                <a:cs typeface="Aptos" pitchFamily="34" charset="-120"/>
              </a:rPr>
              <a:t>Semantic HTML</a:t>
            </a:r>
            <a:endParaRPr lang="en-US" sz="1400" dirty="0"/>
          </a:p>
        </p:txBody>
      </p:sp>
      <p:sp>
        <p:nvSpPr>
          <p:cNvPr id="11" name="Shape 8"/>
          <p:cNvSpPr/>
          <p:nvPr/>
        </p:nvSpPr>
        <p:spPr>
          <a:xfrm>
            <a:off x="9902952" y="3767328"/>
            <a:ext cx="100584" cy="100584"/>
          </a:xfrm>
          <a:prstGeom prst="roundRect">
            <a:avLst>
              <a:gd name="adj" fmla="val 54545"/>
            </a:avLst>
          </a:prstGeom>
          <a:solidFill>
            <a:srgbClr val="22BE9B"/>
          </a:solidFill>
          <a:ln w="8890">
            <a:solidFill>
              <a:srgbClr val="22BE9B">
                <a:alpha val="0"/>
              </a:srgbClr>
            </a:solidFill>
            <a:prstDash val="solid"/>
          </a:ln>
        </p:spPr>
      </p:sp>
      <p:sp>
        <p:nvSpPr>
          <p:cNvPr id="12" name="Text 9"/>
          <p:cNvSpPr/>
          <p:nvPr/>
        </p:nvSpPr>
        <p:spPr>
          <a:xfrm>
            <a:off x="10131552" y="3703320"/>
            <a:ext cx="1234440" cy="566928"/>
          </a:xfrm>
          <a:prstGeom prst="rect">
            <a:avLst/>
          </a:prstGeom>
          <a:noFill/>
          <a:ln/>
        </p:spPr>
        <p:txBody>
          <a:bodyPr wrap="square" lIns="0" tIns="0" rIns="0" bIns="0" rtlCol="0" anchor="ctr">
            <a:normAutofit/>
          </a:bodyPr>
          <a:lstStyle/>
          <a:p>
            <a:pPr indent="0" marL="0">
              <a:buNone/>
            </a:pPr>
            <a:r>
              <a:rPr lang="en-US" sz="1400" dirty="0">
                <a:solidFill>
                  <a:srgbClr val="153842"/>
                </a:solidFill>
                <a:latin typeface="Aptos" pitchFamily="34" charset="0"/>
                <a:ea typeface="Aptos" pitchFamily="34" charset="-122"/>
                <a:cs typeface="Aptos" pitchFamily="34" charset="-120"/>
              </a:rPr>
              <a:t>Founder cards</a:t>
            </a:r>
            <a:endParaRPr lang="en-US" sz="1400" dirty="0"/>
          </a:p>
        </p:txBody>
      </p:sp>
      <p:sp>
        <p:nvSpPr>
          <p:cNvPr id="13" name="Shape 10"/>
          <p:cNvSpPr/>
          <p:nvPr/>
        </p:nvSpPr>
        <p:spPr>
          <a:xfrm>
            <a:off x="9902952" y="4736592"/>
            <a:ext cx="100584" cy="100584"/>
          </a:xfrm>
          <a:prstGeom prst="roundRect">
            <a:avLst>
              <a:gd name="adj" fmla="val 54545"/>
            </a:avLst>
          </a:prstGeom>
          <a:solidFill>
            <a:srgbClr val="22BE9B"/>
          </a:solidFill>
          <a:ln w="8890">
            <a:solidFill>
              <a:srgbClr val="22BE9B">
                <a:alpha val="0"/>
              </a:srgbClr>
            </a:solidFill>
            <a:prstDash val="solid"/>
          </a:ln>
        </p:spPr>
      </p:sp>
      <p:sp>
        <p:nvSpPr>
          <p:cNvPr id="14" name="Text 11"/>
          <p:cNvSpPr/>
          <p:nvPr/>
        </p:nvSpPr>
        <p:spPr>
          <a:xfrm>
            <a:off x="10131552" y="4672584"/>
            <a:ext cx="1234440" cy="566928"/>
          </a:xfrm>
          <a:prstGeom prst="rect">
            <a:avLst/>
          </a:prstGeom>
          <a:noFill/>
          <a:ln/>
        </p:spPr>
        <p:txBody>
          <a:bodyPr wrap="square" lIns="0" tIns="0" rIns="0" bIns="0" rtlCol="0" anchor="ctr">
            <a:normAutofit/>
          </a:bodyPr>
          <a:lstStyle/>
          <a:p>
            <a:pPr indent="0" marL="0">
              <a:buNone/>
            </a:pPr>
            <a:r>
              <a:rPr lang="en-US" sz="1400" dirty="0">
                <a:solidFill>
                  <a:srgbClr val="153842"/>
                </a:solidFill>
                <a:latin typeface="Aptos" pitchFamily="34" charset="0"/>
                <a:ea typeface="Aptos" pitchFamily="34" charset="-122"/>
                <a:cs typeface="Aptos" pitchFamily="34" charset="-120"/>
              </a:rPr>
              <a:t>Readable content</a:t>
            </a:r>
            <a:endParaRPr lang="en-US" sz="1400" dirty="0"/>
          </a:p>
        </p:txBody>
      </p:sp>
      <p:sp>
        <p:nvSpPr>
          <p:cNvPr id="15" name="Shape 12"/>
          <p:cNvSpPr/>
          <p:nvPr/>
        </p:nvSpPr>
        <p:spPr>
          <a:xfrm>
            <a:off x="640080" y="6537960"/>
            <a:ext cx="10881360" cy="0"/>
          </a:xfrm>
          <a:prstGeom prst="line">
            <a:avLst/>
          </a:prstGeom>
          <a:noFill/>
          <a:ln w="12700">
            <a:solidFill>
              <a:srgbClr val="D7E6E1"/>
            </a:solidFill>
            <a:prstDash val="solid"/>
          </a:ln>
        </p:spPr>
      </p:sp>
      <p:sp>
        <p:nvSpPr>
          <p:cNvPr id="16" name="Text 13"/>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17" name="Text 14"/>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ZIANNE’S CODE CONTRIBUTION</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Responsive CSS and mobile layout</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The design adapts to narrower screens while keeping the quote page usable.</a:t>
            </a:r>
            <a:endParaRPr lang="en-US" sz="1500" dirty="0"/>
          </a:p>
        </p:txBody>
      </p:sp>
      <p:sp>
        <p:nvSpPr>
          <p:cNvPr id="5" name="Shape 3"/>
          <p:cNvSpPr/>
          <p:nvPr/>
        </p:nvSpPr>
        <p:spPr>
          <a:xfrm>
            <a:off x="635508" y="1869948"/>
            <a:ext cx="8037576" cy="4407408"/>
          </a:xfrm>
          <a:prstGeom prst="roundRect">
            <a:avLst>
              <a:gd name="adj" fmla="val 2905"/>
            </a:avLst>
          </a:prstGeom>
          <a:solidFill>
            <a:srgbClr val="FFFFFF"/>
          </a:solidFill>
          <a:ln w="8890">
            <a:solidFill>
              <a:srgbClr val="D3E1DD"/>
            </a:solidFill>
            <a:prstDash val="solid"/>
          </a:ln>
        </p:spPr>
      </p:sp>
      <p:pic>
        <p:nvPicPr>
          <p:cNvPr id="6" name="Image 0" descr="/mnt/data/PrintConnect_EVD/presentation_assets/code_zianne_css.png">    </p:cNvPr>
          <p:cNvPicPr>
            <a:picLocks noChangeAspect="1"/>
          </p:cNvPicPr>
          <p:nvPr/>
        </p:nvPicPr>
        <p:blipFill>
          <a:blip r:embed="rId1"/>
          <a:stretch>
            <a:fillRect/>
          </a:stretch>
        </p:blipFill>
        <p:spPr>
          <a:xfrm>
            <a:off x="667512" y="1901952"/>
            <a:ext cx="7973568" cy="4343400"/>
          </a:xfrm>
          <a:prstGeom prst="rect">
            <a:avLst/>
          </a:prstGeom>
        </p:spPr>
      </p:pic>
      <p:sp>
        <p:nvSpPr>
          <p:cNvPr id="7" name="Shape 4"/>
          <p:cNvSpPr/>
          <p:nvPr/>
        </p:nvSpPr>
        <p:spPr>
          <a:xfrm>
            <a:off x="8855964" y="1869948"/>
            <a:ext cx="2478024" cy="4407408"/>
          </a:xfrm>
          <a:prstGeom prst="roundRect">
            <a:avLst>
              <a:gd name="adj" fmla="val 5166"/>
            </a:avLst>
          </a:prstGeom>
          <a:solidFill>
            <a:srgbClr val="FFFFFF"/>
          </a:solidFill>
          <a:ln w="8890">
            <a:solidFill>
              <a:srgbClr val="D3E1DD"/>
            </a:solidFill>
            <a:prstDash val="solid"/>
          </a:ln>
        </p:spPr>
      </p:sp>
      <p:pic>
        <p:nvPicPr>
          <p:cNvPr id="8" name="Image 1" descr="/mnt/data/PrintConnect_EVD/presentation_assets/website_mobile.png">    </p:cNvPr>
          <p:cNvPicPr>
            <a:picLocks noChangeAspect="1"/>
          </p:cNvPicPr>
          <p:nvPr/>
        </p:nvPicPr>
        <p:blipFill>
          <a:blip r:embed="rId2"/>
          <a:stretch>
            <a:fillRect/>
          </a:stretch>
        </p:blipFill>
        <p:spPr>
          <a:xfrm>
            <a:off x="8887968" y="1901952"/>
            <a:ext cx="2414016" cy="4343400"/>
          </a:xfrm>
          <a:prstGeom prst="rect">
            <a:avLst/>
          </a:prstGeom>
        </p:spPr>
      </p:pic>
      <p:sp>
        <p:nvSpPr>
          <p:cNvPr id="9" name="Shape 5"/>
          <p:cNvSpPr/>
          <p:nvPr/>
        </p:nvSpPr>
        <p:spPr>
          <a:xfrm>
            <a:off x="640080" y="6537960"/>
            <a:ext cx="10881360" cy="0"/>
          </a:xfrm>
          <a:prstGeom prst="line">
            <a:avLst/>
          </a:prstGeom>
          <a:noFill/>
          <a:ln w="12700">
            <a:solidFill>
              <a:srgbClr val="D7E6E1"/>
            </a:solidFill>
            <a:prstDash val="solid"/>
          </a:ln>
        </p:spPr>
      </p:sp>
      <p:sp>
        <p:nvSpPr>
          <p:cNvPr id="10" name="Text 6"/>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11" name="Text 7"/>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333C"/>
        </a:solidFill>
      </p:bgPr>
    </p:bg>
    <p:spTree>
      <p:nvGrpSpPr>
        <p:cNvPr id="1" name=""/>
        <p:cNvGrpSpPr/>
        <p:nvPr/>
      </p:nvGrpSpPr>
      <p:grpSpPr>
        <a:xfrm>
          <a:off x="0" y="0"/>
          <a:ext cx="0" cy="0"/>
          <a:chOff x="0" y="0"/>
          <a:chExt cx="0" cy="0"/>
        </a:xfrm>
      </p:grpSpPr>
      <p:sp>
        <p:nvSpPr>
          <p:cNvPr id="2" name="Text 0"/>
          <p:cNvSpPr/>
          <p:nvPr/>
        </p:nvSpPr>
        <p:spPr>
          <a:xfrm>
            <a:off x="758952" y="649224"/>
            <a:ext cx="10607040" cy="329184"/>
          </a:xfrm>
          <a:prstGeom prst="rect">
            <a:avLst/>
          </a:prstGeom>
          <a:noFill/>
          <a:ln/>
        </p:spPr>
        <p:txBody>
          <a:bodyPr wrap="square" lIns="0" tIns="0" rIns="0" bIns="0" rtlCol="0" anchor="ctr">
            <a:normAutofit/>
          </a:bodyPr>
          <a:lstStyle/>
          <a:p>
            <a:pPr indent="0" marL="0">
              <a:buNone/>
            </a:pPr>
            <a:r>
              <a:rPr lang="en-US" sz="1400" b="1" spc="150" kern="0" dirty="0">
                <a:solidFill>
                  <a:srgbClr val="75E7C4"/>
                </a:solidFill>
                <a:latin typeface="Aptos" pitchFamily="34" charset="0"/>
                <a:ea typeface="Aptos" pitchFamily="34" charset="-122"/>
                <a:cs typeface="Aptos" pitchFamily="34" charset="-120"/>
              </a:rPr>
              <a:t>DANIEL D. PACUNDO • PYTHON &amp; INTERACTIVITY</a:t>
            </a:r>
            <a:endParaRPr lang="en-US" sz="1400" dirty="0"/>
          </a:p>
        </p:txBody>
      </p:sp>
      <p:sp>
        <p:nvSpPr>
          <p:cNvPr id="3" name="Text 1"/>
          <p:cNvSpPr/>
          <p:nvPr/>
        </p:nvSpPr>
        <p:spPr>
          <a:xfrm>
            <a:off x="749808" y="1435608"/>
            <a:ext cx="10625328" cy="1581912"/>
          </a:xfrm>
          <a:prstGeom prst="rect">
            <a:avLst/>
          </a:prstGeom>
          <a:noFill/>
          <a:ln/>
        </p:spPr>
        <p:txBody>
          <a:bodyPr wrap="square" lIns="0" tIns="0" rIns="0" bIns="0" rtlCol="0" anchor="ctr">
            <a:normAutofit/>
          </a:bodyPr>
          <a:lstStyle/>
          <a:p>
            <a:pPr indent="0" marL="0">
              <a:buNone/>
            </a:pPr>
            <a:r>
              <a:rPr lang="en-US" sz="4700" b="1" dirty="0">
                <a:solidFill>
                  <a:srgbClr val="FFFFFF"/>
                </a:solidFill>
                <a:latin typeface="Aptos" pitchFamily="34" charset="0"/>
                <a:ea typeface="Aptos" pitchFamily="34" charset="-122"/>
                <a:cs typeface="Aptos" pitchFamily="34" charset="-120"/>
              </a:rPr>
              <a:t>From user action</a:t>
            </a:r>
            <a:endParaRPr lang="en-US" sz="4700" dirty="0"/>
          </a:p>
          <a:p>
            <a:pPr indent="0" marL="0">
              <a:buNone/>
            </a:pPr>
            <a:r>
              <a:rPr lang="en-US" sz="4700" b="1" dirty="0">
                <a:solidFill>
                  <a:srgbClr val="FFFFFF"/>
                </a:solidFill>
                <a:latin typeface="Aptos" pitchFamily="34" charset="0"/>
                <a:ea typeface="Aptos" pitchFamily="34" charset="-122"/>
                <a:cs typeface="Aptos" pitchFamily="34" charset="-120"/>
              </a:rPr>
              <a:t>to instant feedback.</a:t>
            </a:r>
            <a:endParaRPr lang="en-US" sz="4700" dirty="0"/>
          </a:p>
        </p:txBody>
      </p:sp>
      <p:sp>
        <p:nvSpPr>
          <p:cNvPr id="4" name="Shape 2"/>
          <p:cNvSpPr/>
          <p:nvPr/>
        </p:nvSpPr>
        <p:spPr>
          <a:xfrm>
            <a:off x="777240" y="3767328"/>
            <a:ext cx="3429000" cy="1325880"/>
          </a:xfrm>
          <a:prstGeom prst="roundRect">
            <a:avLst>
              <a:gd name="adj" fmla="val 12414"/>
            </a:avLst>
          </a:prstGeom>
          <a:solidFill>
            <a:srgbClr val="23535A"/>
          </a:solidFill>
          <a:ln w="8890">
            <a:solidFill>
              <a:srgbClr val="23535A">
                <a:alpha val="0"/>
              </a:srgbClr>
            </a:solidFill>
            <a:prstDash val="solid"/>
          </a:ln>
        </p:spPr>
      </p:sp>
      <p:sp>
        <p:nvSpPr>
          <p:cNvPr id="5" name="Text 3"/>
          <p:cNvSpPr/>
          <p:nvPr/>
        </p:nvSpPr>
        <p:spPr>
          <a:xfrm>
            <a:off x="987552" y="3995928"/>
            <a:ext cx="2907792" cy="265176"/>
          </a:xfrm>
          <a:prstGeom prst="rect">
            <a:avLst/>
          </a:prstGeom>
          <a:noFill/>
          <a:ln/>
        </p:spPr>
        <p:txBody>
          <a:bodyPr wrap="square" lIns="0" tIns="0" rIns="0" bIns="0" rtlCol="0" anchor="ctr">
            <a:normAutofit/>
          </a:bodyPr>
          <a:lstStyle/>
          <a:p>
            <a:pPr indent="0" marL="0">
              <a:buNone/>
            </a:pPr>
            <a:r>
              <a:rPr lang="en-US" sz="1300" b="1" spc="140" kern="0" dirty="0">
                <a:solidFill>
                  <a:srgbClr val="85E9CB"/>
                </a:solidFill>
                <a:latin typeface="Aptos" pitchFamily="34" charset="0"/>
                <a:ea typeface="Aptos" pitchFamily="34" charset="-122"/>
                <a:cs typeface="Aptos" pitchFamily="34" charset="-120"/>
              </a:rPr>
              <a:t>INPUT</a:t>
            </a:r>
            <a:endParaRPr lang="en-US" sz="1300" dirty="0"/>
          </a:p>
        </p:txBody>
      </p:sp>
      <p:sp>
        <p:nvSpPr>
          <p:cNvPr id="6" name="Text 4"/>
          <p:cNvSpPr/>
          <p:nvPr/>
        </p:nvSpPr>
        <p:spPr>
          <a:xfrm>
            <a:off x="987552" y="4425696"/>
            <a:ext cx="3008376" cy="457200"/>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A student changes a field</a:t>
            </a:r>
            <a:endParaRPr lang="en-US" sz="1700" dirty="0"/>
          </a:p>
        </p:txBody>
      </p:sp>
      <p:sp>
        <p:nvSpPr>
          <p:cNvPr id="7" name="Shape 5"/>
          <p:cNvSpPr/>
          <p:nvPr/>
        </p:nvSpPr>
        <p:spPr>
          <a:xfrm>
            <a:off x="4581144" y="3767328"/>
            <a:ext cx="3429000" cy="1325880"/>
          </a:xfrm>
          <a:prstGeom prst="roundRect">
            <a:avLst>
              <a:gd name="adj" fmla="val 12414"/>
            </a:avLst>
          </a:prstGeom>
          <a:solidFill>
            <a:srgbClr val="23535A"/>
          </a:solidFill>
          <a:ln w="8890">
            <a:solidFill>
              <a:srgbClr val="23535A">
                <a:alpha val="0"/>
              </a:srgbClr>
            </a:solidFill>
            <a:prstDash val="solid"/>
          </a:ln>
        </p:spPr>
      </p:sp>
      <p:sp>
        <p:nvSpPr>
          <p:cNvPr id="8" name="Text 6"/>
          <p:cNvSpPr/>
          <p:nvPr/>
        </p:nvSpPr>
        <p:spPr>
          <a:xfrm>
            <a:off x="4791456" y="3995928"/>
            <a:ext cx="2907792" cy="265176"/>
          </a:xfrm>
          <a:prstGeom prst="rect">
            <a:avLst/>
          </a:prstGeom>
          <a:noFill/>
          <a:ln/>
        </p:spPr>
        <p:txBody>
          <a:bodyPr wrap="square" lIns="0" tIns="0" rIns="0" bIns="0" rtlCol="0" anchor="ctr">
            <a:normAutofit/>
          </a:bodyPr>
          <a:lstStyle/>
          <a:p>
            <a:pPr indent="0" marL="0">
              <a:buNone/>
            </a:pPr>
            <a:r>
              <a:rPr lang="en-US" sz="1300" b="1" spc="140" kern="0" dirty="0">
                <a:solidFill>
                  <a:srgbClr val="85E9CB"/>
                </a:solidFill>
                <a:latin typeface="Aptos" pitchFamily="34" charset="0"/>
                <a:ea typeface="Aptos" pitchFamily="34" charset="-122"/>
                <a:cs typeface="Aptos" pitchFamily="34" charset="-120"/>
              </a:rPr>
              <a:t>PYTHON</a:t>
            </a:r>
            <a:endParaRPr lang="en-US" sz="1300" dirty="0"/>
          </a:p>
        </p:txBody>
      </p:sp>
      <p:sp>
        <p:nvSpPr>
          <p:cNvPr id="9" name="Text 7"/>
          <p:cNvSpPr/>
          <p:nvPr/>
        </p:nvSpPr>
        <p:spPr>
          <a:xfrm>
            <a:off x="4791456" y="4425696"/>
            <a:ext cx="3008376" cy="457200"/>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PyScript runs a handler</a:t>
            </a:r>
            <a:endParaRPr lang="en-US" sz="1700" dirty="0"/>
          </a:p>
        </p:txBody>
      </p:sp>
      <p:sp>
        <p:nvSpPr>
          <p:cNvPr id="10" name="Shape 8"/>
          <p:cNvSpPr/>
          <p:nvPr/>
        </p:nvSpPr>
        <p:spPr>
          <a:xfrm>
            <a:off x="8385048" y="3767328"/>
            <a:ext cx="3429000" cy="1325880"/>
          </a:xfrm>
          <a:prstGeom prst="roundRect">
            <a:avLst>
              <a:gd name="adj" fmla="val 12414"/>
            </a:avLst>
          </a:prstGeom>
          <a:solidFill>
            <a:srgbClr val="23535A"/>
          </a:solidFill>
          <a:ln w="8890">
            <a:solidFill>
              <a:srgbClr val="23535A">
                <a:alpha val="0"/>
              </a:srgbClr>
            </a:solidFill>
            <a:prstDash val="solid"/>
          </a:ln>
        </p:spPr>
      </p:sp>
      <p:sp>
        <p:nvSpPr>
          <p:cNvPr id="11" name="Text 9"/>
          <p:cNvSpPr/>
          <p:nvPr/>
        </p:nvSpPr>
        <p:spPr>
          <a:xfrm>
            <a:off x="8595360" y="3995928"/>
            <a:ext cx="2907792" cy="265176"/>
          </a:xfrm>
          <a:prstGeom prst="rect">
            <a:avLst/>
          </a:prstGeom>
          <a:noFill/>
          <a:ln/>
        </p:spPr>
        <p:txBody>
          <a:bodyPr wrap="square" lIns="0" tIns="0" rIns="0" bIns="0" rtlCol="0" anchor="ctr">
            <a:normAutofit/>
          </a:bodyPr>
          <a:lstStyle/>
          <a:p>
            <a:pPr indent="0" marL="0">
              <a:buNone/>
            </a:pPr>
            <a:r>
              <a:rPr lang="en-US" sz="1300" b="1" spc="140" kern="0" dirty="0">
                <a:solidFill>
                  <a:srgbClr val="85E9CB"/>
                </a:solidFill>
                <a:latin typeface="Aptos" pitchFamily="34" charset="0"/>
                <a:ea typeface="Aptos" pitchFamily="34" charset="-122"/>
                <a:cs typeface="Aptos" pitchFamily="34" charset="-120"/>
              </a:rPr>
              <a:t>UPDATE</a:t>
            </a:r>
            <a:endParaRPr lang="en-US" sz="1300" dirty="0"/>
          </a:p>
        </p:txBody>
      </p:sp>
      <p:sp>
        <p:nvSpPr>
          <p:cNvPr id="12" name="Text 10"/>
          <p:cNvSpPr/>
          <p:nvPr/>
        </p:nvSpPr>
        <p:spPr>
          <a:xfrm>
            <a:off x="8595360" y="4425696"/>
            <a:ext cx="3008376" cy="457200"/>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The quote changes on screen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INTERACTIVE WEBSITE DEMONSTRATION</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The Get a Quote page</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Enter a print type, number of pages and number of copies; the total is recalculated.</a:t>
            </a:r>
            <a:endParaRPr lang="en-US" sz="1500" dirty="0"/>
          </a:p>
        </p:txBody>
      </p:sp>
      <p:sp>
        <p:nvSpPr>
          <p:cNvPr id="5" name="Shape 3"/>
          <p:cNvSpPr/>
          <p:nvPr/>
        </p:nvSpPr>
        <p:spPr>
          <a:xfrm>
            <a:off x="626364" y="1815084"/>
            <a:ext cx="8567928" cy="4517136"/>
          </a:xfrm>
          <a:prstGeom prst="roundRect">
            <a:avLst>
              <a:gd name="adj" fmla="val 2834"/>
            </a:avLst>
          </a:prstGeom>
          <a:solidFill>
            <a:srgbClr val="FFFFFF"/>
          </a:solidFill>
          <a:ln w="8890">
            <a:solidFill>
              <a:srgbClr val="D3E1DD"/>
            </a:solidFill>
            <a:prstDash val="solid"/>
          </a:ln>
        </p:spPr>
      </p:sp>
      <p:pic>
        <p:nvPicPr>
          <p:cNvPr id="6" name="Image 0" descr="/mnt/data/PrintConnect_EVD/presentation_assets/website_order.png">    </p:cNvPr>
          <p:cNvPicPr>
            <a:picLocks noChangeAspect="1"/>
          </p:cNvPicPr>
          <p:nvPr/>
        </p:nvPicPr>
        <p:blipFill>
          <a:blip r:embed="rId1"/>
          <a:stretch>
            <a:fillRect/>
          </a:stretch>
        </p:blipFill>
        <p:spPr>
          <a:xfrm>
            <a:off x="658368" y="1847088"/>
            <a:ext cx="8503920" cy="4453128"/>
          </a:xfrm>
          <a:prstGeom prst="rect">
            <a:avLst/>
          </a:prstGeom>
        </p:spPr>
      </p:pic>
      <p:sp>
        <p:nvSpPr>
          <p:cNvPr id="7" name="Shape 4"/>
          <p:cNvSpPr/>
          <p:nvPr/>
        </p:nvSpPr>
        <p:spPr>
          <a:xfrm>
            <a:off x="9390888" y="1920240"/>
            <a:ext cx="2139696" cy="4297680"/>
          </a:xfrm>
          <a:prstGeom prst="roundRect">
            <a:avLst>
              <a:gd name="adj" fmla="val 7265"/>
            </a:avLst>
          </a:prstGeom>
          <a:solidFill>
            <a:srgbClr val="E7F5EF"/>
          </a:solidFill>
          <a:ln w="8890">
            <a:solidFill>
              <a:srgbClr val="E7F5EF">
                <a:alpha val="0"/>
              </a:srgbClr>
            </a:solidFill>
            <a:prstDash val="solid"/>
          </a:ln>
        </p:spPr>
      </p:sp>
      <p:sp>
        <p:nvSpPr>
          <p:cNvPr id="8" name="Text 5"/>
          <p:cNvSpPr/>
          <p:nvPr/>
        </p:nvSpPr>
        <p:spPr>
          <a:xfrm>
            <a:off x="9592056" y="2167128"/>
            <a:ext cx="1737360" cy="502920"/>
          </a:xfrm>
          <a:prstGeom prst="rect">
            <a:avLst/>
          </a:prstGeom>
          <a:noFill/>
          <a:ln/>
        </p:spPr>
        <p:txBody>
          <a:bodyPr wrap="square" lIns="0" tIns="0" rIns="0" bIns="0" rtlCol="0" anchor="ctr">
            <a:normAutofit/>
          </a:bodyPr>
          <a:lstStyle/>
          <a:p>
            <a:pPr indent="0" marL="0">
              <a:buNone/>
            </a:pPr>
            <a:r>
              <a:rPr lang="en-US" sz="1800" b="1" dirty="0">
                <a:solidFill>
                  <a:srgbClr val="153842"/>
                </a:solidFill>
                <a:latin typeface="Aptos" pitchFamily="34" charset="0"/>
                <a:ea typeface="Aptos" pitchFamily="34" charset="-122"/>
                <a:cs typeface="Aptos" pitchFamily="34" charset="-120"/>
              </a:rPr>
              <a:t>Live demo steps</a:t>
            </a:r>
            <a:endParaRPr lang="en-US" sz="1800" dirty="0"/>
          </a:p>
        </p:txBody>
      </p:sp>
      <p:sp>
        <p:nvSpPr>
          <p:cNvPr id="9" name="Text 6"/>
          <p:cNvSpPr/>
          <p:nvPr/>
        </p:nvSpPr>
        <p:spPr>
          <a:xfrm>
            <a:off x="9601200" y="2862072"/>
            <a:ext cx="1645920" cy="347472"/>
          </a:xfrm>
          <a:prstGeom prst="rect">
            <a:avLst/>
          </a:prstGeom>
          <a:noFill/>
          <a:ln/>
        </p:spPr>
        <p:txBody>
          <a:bodyPr wrap="square" lIns="0" tIns="0" rIns="0" bIns="0" rtlCol="0" anchor="ctr">
            <a:normAutofit/>
          </a:bodyPr>
          <a:lstStyle/>
          <a:p>
            <a:pPr indent="0" marL="0">
              <a:buNone/>
            </a:pPr>
            <a:r>
              <a:rPr lang="en-US" sz="1350" dirty="0">
                <a:solidFill>
                  <a:srgbClr val="153842"/>
                </a:solidFill>
                <a:latin typeface="Aptos" pitchFamily="34" charset="0"/>
                <a:ea typeface="Aptos" pitchFamily="34" charset="-122"/>
                <a:cs typeface="Aptos" pitchFamily="34" charset="-120"/>
              </a:rPr>
              <a:t>1. Choose color</a:t>
            </a:r>
            <a:endParaRPr lang="en-US" sz="1350" dirty="0"/>
          </a:p>
        </p:txBody>
      </p:sp>
      <p:sp>
        <p:nvSpPr>
          <p:cNvPr id="10" name="Text 7"/>
          <p:cNvSpPr/>
          <p:nvPr/>
        </p:nvSpPr>
        <p:spPr>
          <a:xfrm>
            <a:off x="9601200" y="3447288"/>
            <a:ext cx="1645920" cy="347472"/>
          </a:xfrm>
          <a:prstGeom prst="rect">
            <a:avLst/>
          </a:prstGeom>
          <a:noFill/>
          <a:ln/>
        </p:spPr>
        <p:txBody>
          <a:bodyPr wrap="square" lIns="0" tIns="0" rIns="0" bIns="0" rtlCol="0" anchor="ctr">
            <a:normAutofit/>
          </a:bodyPr>
          <a:lstStyle/>
          <a:p>
            <a:pPr indent="0" marL="0">
              <a:buNone/>
            </a:pPr>
            <a:r>
              <a:rPr lang="en-US" sz="1350" dirty="0">
                <a:solidFill>
                  <a:srgbClr val="153842"/>
                </a:solidFill>
                <a:latin typeface="Aptos" pitchFamily="34" charset="0"/>
                <a:ea typeface="Aptos" pitchFamily="34" charset="-122"/>
                <a:cs typeface="Aptos" pitchFamily="34" charset="-120"/>
              </a:rPr>
              <a:t>2. Type 5 pages</a:t>
            </a:r>
            <a:endParaRPr lang="en-US" sz="1350" dirty="0"/>
          </a:p>
        </p:txBody>
      </p:sp>
      <p:sp>
        <p:nvSpPr>
          <p:cNvPr id="11" name="Text 8"/>
          <p:cNvSpPr/>
          <p:nvPr/>
        </p:nvSpPr>
        <p:spPr>
          <a:xfrm>
            <a:off x="9601200" y="4032504"/>
            <a:ext cx="1645920" cy="347472"/>
          </a:xfrm>
          <a:prstGeom prst="rect">
            <a:avLst/>
          </a:prstGeom>
          <a:noFill/>
          <a:ln/>
        </p:spPr>
        <p:txBody>
          <a:bodyPr wrap="square" lIns="0" tIns="0" rIns="0" bIns="0" rtlCol="0" anchor="ctr">
            <a:normAutofit/>
          </a:bodyPr>
          <a:lstStyle/>
          <a:p>
            <a:pPr indent="0" marL="0">
              <a:buNone/>
            </a:pPr>
            <a:r>
              <a:rPr lang="en-US" sz="1350" dirty="0">
                <a:solidFill>
                  <a:srgbClr val="153842"/>
                </a:solidFill>
                <a:latin typeface="Aptos" pitchFamily="34" charset="0"/>
                <a:ea typeface="Aptos" pitchFamily="34" charset="-122"/>
                <a:cs typeface="Aptos" pitchFamily="34" charset="-120"/>
              </a:rPr>
              <a:t>3. Set 2 copies</a:t>
            </a:r>
            <a:endParaRPr lang="en-US" sz="1350" dirty="0"/>
          </a:p>
        </p:txBody>
      </p:sp>
      <p:sp>
        <p:nvSpPr>
          <p:cNvPr id="12" name="Text 9"/>
          <p:cNvSpPr/>
          <p:nvPr/>
        </p:nvSpPr>
        <p:spPr>
          <a:xfrm>
            <a:off x="9601200" y="4617720"/>
            <a:ext cx="1645920" cy="347472"/>
          </a:xfrm>
          <a:prstGeom prst="rect">
            <a:avLst/>
          </a:prstGeom>
          <a:noFill/>
          <a:ln/>
        </p:spPr>
        <p:txBody>
          <a:bodyPr wrap="square" lIns="0" tIns="0" rIns="0" bIns="0" rtlCol="0" anchor="ctr">
            <a:normAutofit/>
          </a:bodyPr>
          <a:lstStyle/>
          <a:p>
            <a:pPr indent="0" marL="0">
              <a:buNone/>
            </a:pPr>
            <a:r>
              <a:rPr lang="en-US" sz="1350" b="1" dirty="0">
                <a:solidFill>
                  <a:srgbClr val="153842"/>
                </a:solidFill>
                <a:latin typeface="Aptos" pitchFamily="34" charset="0"/>
                <a:ea typeface="Aptos" pitchFamily="34" charset="-122"/>
                <a:cs typeface="Aptos" pitchFamily="34" charset="-120"/>
              </a:rPr>
              <a:t>4. Check ₱50.00</a:t>
            </a:r>
            <a:endParaRPr lang="en-US" sz="1350" dirty="0"/>
          </a:p>
        </p:txBody>
      </p:sp>
      <p:sp>
        <p:nvSpPr>
          <p:cNvPr id="13" name="Text 10"/>
          <p:cNvSpPr/>
          <p:nvPr/>
        </p:nvSpPr>
        <p:spPr>
          <a:xfrm>
            <a:off x="9601200" y="5202936"/>
            <a:ext cx="1645920" cy="347472"/>
          </a:xfrm>
          <a:prstGeom prst="rect">
            <a:avLst/>
          </a:prstGeom>
          <a:noFill/>
          <a:ln/>
        </p:spPr>
        <p:txBody>
          <a:bodyPr wrap="square" lIns="0" tIns="0" rIns="0" bIns="0" rtlCol="0" anchor="ctr">
            <a:normAutofit/>
          </a:bodyPr>
          <a:lstStyle/>
          <a:p>
            <a:pPr indent="0" marL="0">
              <a:buNone/>
            </a:pPr>
            <a:r>
              <a:rPr lang="en-US" sz="1350" dirty="0">
                <a:solidFill>
                  <a:srgbClr val="153842"/>
                </a:solidFill>
                <a:latin typeface="Aptos" pitchFamily="34" charset="0"/>
                <a:ea typeface="Aptos" pitchFamily="34" charset="-122"/>
                <a:cs typeface="Aptos" pitchFamily="34" charset="-120"/>
              </a:rPr>
              <a:t>5. Generate quote</a:t>
            </a:r>
            <a:endParaRPr lang="en-US" sz="1350" dirty="0"/>
          </a:p>
        </p:txBody>
      </p:sp>
      <p:sp>
        <p:nvSpPr>
          <p:cNvPr id="14" name="Shape 11"/>
          <p:cNvSpPr/>
          <p:nvPr/>
        </p:nvSpPr>
        <p:spPr>
          <a:xfrm>
            <a:off x="640080" y="6537960"/>
            <a:ext cx="10881360" cy="0"/>
          </a:xfrm>
          <a:prstGeom prst="line">
            <a:avLst/>
          </a:prstGeom>
          <a:noFill/>
          <a:ln w="12700">
            <a:solidFill>
              <a:srgbClr val="D7E6E1"/>
            </a:solidFill>
            <a:prstDash val="solid"/>
          </a:ln>
        </p:spPr>
      </p:sp>
      <p:sp>
        <p:nvSpPr>
          <p:cNvPr id="15" name="Text 12"/>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16" name="Text 13"/>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EVENT-DRIVEN PROGRAMMING</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How the event flow works</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PyScript uses decorators to connect HTML actions to Python functions.</a:t>
            </a:r>
            <a:endParaRPr lang="en-US" sz="1500" dirty="0"/>
          </a:p>
        </p:txBody>
      </p:sp>
      <p:sp>
        <p:nvSpPr>
          <p:cNvPr id="5" name="Shape 3"/>
          <p:cNvSpPr/>
          <p:nvPr/>
        </p:nvSpPr>
        <p:spPr>
          <a:xfrm>
            <a:off x="658368" y="2340864"/>
            <a:ext cx="2660904" cy="2240280"/>
          </a:xfrm>
          <a:prstGeom prst="roundRect">
            <a:avLst>
              <a:gd name="adj" fmla="val 7347"/>
            </a:avLst>
          </a:prstGeom>
          <a:solidFill>
            <a:srgbClr val="FFFFFF"/>
          </a:solidFill>
          <a:ln w="8890">
            <a:solidFill>
              <a:srgbClr val="D7E6E1"/>
            </a:solidFill>
            <a:prstDash val="solid"/>
          </a:ln>
        </p:spPr>
      </p:sp>
      <p:sp>
        <p:nvSpPr>
          <p:cNvPr id="6" name="Text 4"/>
          <p:cNvSpPr/>
          <p:nvPr/>
        </p:nvSpPr>
        <p:spPr>
          <a:xfrm>
            <a:off x="841248" y="2560320"/>
            <a:ext cx="466344" cy="448056"/>
          </a:xfrm>
          <a:prstGeom prst="rect">
            <a:avLst/>
          </a:prstGeom>
          <a:noFill/>
          <a:ln/>
        </p:spPr>
        <p:txBody>
          <a:bodyPr wrap="square" lIns="0" tIns="0" rIns="0" bIns="0" rtlCol="0" anchor="ctr">
            <a:normAutofit/>
          </a:bodyPr>
          <a:lstStyle/>
          <a:p>
            <a:pPr indent="0" marL="0">
              <a:buNone/>
            </a:pPr>
            <a:r>
              <a:rPr lang="en-US" sz="2800" b="1" dirty="0">
                <a:solidFill>
                  <a:srgbClr val="22BE9B"/>
                </a:solidFill>
                <a:latin typeface="Aptos" pitchFamily="34" charset="0"/>
                <a:ea typeface="Aptos" pitchFamily="34" charset="-122"/>
                <a:cs typeface="Aptos" pitchFamily="34" charset="-120"/>
              </a:rPr>
              <a:t>1</a:t>
            </a:r>
            <a:endParaRPr lang="en-US" sz="2800" dirty="0"/>
          </a:p>
        </p:txBody>
      </p:sp>
      <p:sp>
        <p:nvSpPr>
          <p:cNvPr id="7" name="Text 5"/>
          <p:cNvSpPr/>
          <p:nvPr/>
        </p:nvSpPr>
        <p:spPr>
          <a:xfrm>
            <a:off x="841248" y="3182112"/>
            <a:ext cx="2295144" cy="438912"/>
          </a:xfrm>
          <a:prstGeom prst="rect">
            <a:avLst/>
          </a:prstGeom>
          <a:noFill/>
          <a:ln/>
        </p:spPr>
        <p:txBody>
          <a:bodyPr wrap="square" lIns="0" tIns="0" rIns="0" bIns="0" rtlCol="0" anchor="ctr">
            <a:normAutofit/>
          </a:bodyPr>
          <a:lstStyle/>
          <a:p>
            <a:pPr indent="0" marL="0">
              <a:buNone/>
            </a:pPr>
            <a:r>
              <a:rPr lang="en-US" sz="1750" b="1" dirty="0">
                <a:solidFill>
                  <a:srgbClr val="153842"/>
                </a:solidFill>
                <a:latin typeface="Aptos" pitchFamily="34" charset="0"/>
                <a:ea typeface="Aptos" pitchFamily="34" charset="-122"/>
                <a:cs typeface="Aptos" pitchFamily="34" charset="-120"/>
              </a:rPr>
              <a:t>Browser action</a:t>
            </a:r>
            <a:endParaRPr lang="en-US" sz="1750" dirty="0"/>
          </a:p>
        </p:txBody>
      </p:sp>
      <p:sp>
        <p:nvSpPr>
          <p:cNvPr id="8" name="Text 6"/>
          <p:cNvSpPr/>
          <p:nvPr/>
        </p:nvSpPr>
        <p:spPr>
          <a:xfrm>
            <a:off x="841248" y="3785616"/>
            <a:ext cx="2267712" cy="585216"/>
          </a:xfrm>
          <a:prstGeom prst="rect">
            <a:avLst/>
          </a:prstGeom>
          <a:noFill/>
          <a:ln/>
        </p:spPr>
        <p:txBody>
          <a:bodyPr wrap="square" lIns="0" tIns="0" rIns="0" bIns="0" rtlCol="0" anchor="ctr">
            <a:normAutofit/>
          </a:bodyPr>
          <a:lstStyle/>
          <a:p>
            <a:pPr indent="0" marL="0">
              <a:buNone/>
            </a:pPr>
            <a:r>
              <a:rPr lang="en-US" sz="1360" dirty="0">
                <a:solidFill>
                  <a:srgbClr val="627B80"/>
                </a:solidFill>
                <a:latin typeface="Aptos" pitchFamily="34" charset="0"/>
                <a:ea typeface="Aptos" pitchFamily="34" charset="-122"/>
                <a:cs typeface="Aptos" pitchFamily="34" charset="-120"/>
              </a:rPr>
              <a:t>Input, change, click, or submit</a:t>
            </a:r>
            <a:endParaRPr lang="en-US" sz="1360" dirty="0"/>
          </a:p>
        </p:txBody>
      </p:sp>
      <p:sp>
        <p:nvSpPr>
          <p:cNvPr id="9" name="Text 7"/>
          <p:cNvSpPr/>
          <p:nvPr/>
        </p:nvSpPr>
        <p:spPr>
          <a:xfrm>
            <a:off x="3273552" y="3044952"/>
            <a:ext cx="384048" cy="530352"/>
          </a:xfrm>
          <a:prstGeom prst="rect">
            <a:avLst/>
          </a:prstGeom>
          <a:noFill/>
          <a:ln/>
        </p:spPr>
        <p:txBody>
          <a:bodyPr wrap="square" lIns="0" tIns="0" rIns="0" bIns="0" rtlCol="0" anchor="ctr">
            <a:normAutofit/>
          </a:bodyPr>
          <a:lstStyle/>
          <a:p>
            <a:pPr algn="ctr" indent="0" marL="0">
              <a:buNone/>
            </a:pPr>
            <a:r>
              <a:rPr lang="en-US" sz="2700" b="1" dirty="0">
                <a:solidFill>
                  <a:srgbClr val="15A886"/>
                </a:solidFill>
                <a:latin typeface="Aptos" pitchFamily="34" charset="0"/>
                <a:ea typeface="Aptos" pitchFamily="34" charset="-122"/>
                <a:cs typeface="Aptos" pitchFamily="34" charset="-120"/>
              </a:rPr>
              <a:t>→</a:t>
            </a:r>
            <a:endParaRPr lang="en-US" sz="2700" dirty="0"/>
          </a:p>
        </p:txBody>
      </p:sp>
      <p:sp>
        <p:nvSpPr>
          <p:cNvPr id="10" name="Shape 8"/>
          <p:cNvSpPr/>
          <p:nvPr/>
        </p:nvSpPr>
        <p:spPr>
          <a:xfrm>
            <a:off x="3584448" y="2340864"/>
            <a:ext cx="2660904" cy="2240280"/>
          </a:xfrm>
          <a:prstGeom prst="roundRect">
            <a:avLst>
              <a:gd name="adj" fmla="val 7347"/>
            </a:avLst>
          </a:prstGeom>
          <a:solidFill>
            <a:srgbClr val="E8F7F0"/>
          </a:solidFill>
          <a:ln w="8890">
            <a:solidFill>
              <a:srgbClr val="D7E6E1"/>
            </a:solidFill>
            <a:prstDash val="solid"/>
          </a:ln>
        </p:spPr>
      </p:sp>
      <p:sp>
        <p:nvSpPr>
          <p:cNvPr id="11" name="Text 9"/>
          <p:cNvSpPr/>
          <p:nvPr/>
        </p:nvSpPr>
        <p:spPr>
          <a:xfrm>
            <a:off x="3767328" y="2560320"/>
            <a:ext cx="466344" cy="448056"/>
          </a:xfrm>
          <a:prstGeom prst="rect">
            <a:avLst/>
          </a:prstGeom>
          <a:noFill/>
          <a:ln/>
        </p:spPr>
        <p:txBody>
          <a:bodyPr wrap="square" lIns="0" tIns="0" rIns="0" bIns="0" rtlCol="0" anchor="ctr">
            <a:normAutofit/>
          </a:bodyPr>
          <a:lstStyle/>
          <a:p>
            <a:pPr indent="0" marL="0">
              <a:buNone/>
            </a:pPr>
            <a:r>
              <a:rPr lang="en-US" sz="2800" b="1" dirty="0">
                <a:solidFill>
                  <a:srgbClr val="22BE9B"/>
                </a:solidFill>
                <a:latin typeface="Aptos" pitchFamily="34" charset="0"/>
                <a:ea typeface="Aptos" pitchFamily="34" charset="-122"/>
                <a:cs typeface="Aptos" pitchFamily="34" charset="-120"/>
              </a:rPr>
              <a:t>2</a:t>
            </a:r>
            <a:endParaRPr lang="en-US" sz="2800" dirty="0"/>
          </a:p>
        </p:txBody>
      </p:sp>
      <p:sp>
        <p:nvSpPr>
          <p:cNvPr id="12" name="Text 10"/>
          <p:cNvSpPr/>
          <p:nvPr/>
        </p:nvSpPr>
        <p:spPr>
          <a:xfrm>
            <a:off x="3767328" y="3182112"/>
            <a:ext cx="2295144" cy="438912"/>
          </a:xfrm>
          <a:prstGeom prst="rect">
            <a:avLst/>
          </a:prstGeom>
          <a:noFill/>
          <a:ln/>
        </p:spPr>
        <p:txBody>
          <a:bodyPr wrap="square" lIns="0" tIns="0" rIns="0" bIns="0" rtlCol="0" anchor="ctr">
            <a:normAutofit/>
          </a:bodyPr>
          <a:lstStyle/>
          <a:p>
            <a:pPr indent="0" marL="0">
              <a:buNone/>
            </a:pPr>
            <a:r>
              <a:rPr lang="en-US" sz="1750" b="1" dirty="0">
                <a:solidFill>
                  <a:srgbClr val="153842"/>
                </a:solidFill>
                <a:latin typeface="Aptos" pitchFamily="34" charset="0"/>
                <a:ea typeface="Aptos" pitchFamily="34" charset="-122"/>
                <a:cs typeface="Aptos" pitchFamily="34" charset="-120"/>
              </a:rPr>
              <a:t>Event listener</a:t>
            </a:r>
            <a:endParaRPr lang="en-US" sz="1750" dirty="0"/>
          </a:p>
        </p:txBody>
      </p:sp>
      <p:sp>
        <p:nvSpPr>
          <p:cNvPr id="13" name="Text 11"/>
          <p:cNvSpPr/>
          <p:nvPr/>
        </p:nvSpPr>
        <p:spPr>
          <a:xfrm>
            <a:off x="3767328" y="3785616"/>
            <a:ext cx="2267712" cy="585216"/>
          </a:xfrm>
          <a:prstGeom prst="rect">
            <a:avLst/>
          </a:prstGeom>
          <a:noFill/>
          <a:ln/>
        </p:spPr>
        <p:txBody>
          <a:bodyPr wrap="square" lIns="0" tIns="0" rIns="0" bIns="0" rtlCol="0" anchor="ctr">
            <a:normAutofit/>
          </a:bodyPr>
          <a:lstStyle/>
          <a:p>
            <a:pPr indent="0" marL="0">
              <a:buNone/>
            </a:pPr>
            <a:r>
              <a:rPr lang="en-US" sz="1360" dirty="0">
                <a:solidFill>
                  <a:srgbClr val="627B80"/>
                </a:solidFill>
                <a:latin typeface="Aptos" pitchFamily="34" charset="0"/>
                <a:ea typeface="Aptos" pitchFamily="34" charset="-122"/>
                <a:cs typeface="Aptos" pitchFamily="34" charset="-120"/>
              </a:rPr>
              <a:t>@when(...) triggers Python</a:t>
            </a:r>
            <a:endParaRPr lang="en-US" sz="1360" dirty="0"/>
          </a:p>
        </p:txBody>
      </p:sp>
      <p:sp>
        <p:nvSpPr>
          <p:cNvPr id="14" name="Text 12"/>
          <p:cNvSpPr/>
          <p:nvPr/>
        </p:nvSpPr>
        <p:spPr>
          <a:xfrm>
            <a:off x="6199632" y="3044952"/>
            <a:ext cx="384048" cy="530352"/>
          </a:xfrm>
          <a:prstGeom prst="rect">
            <a:avLst/>
          </a:prstGeom>
          <a:noFill/>
          <a:ln/>
        </p:spPr>
        <p:txBody>
          <a:bodyPr wrap="square" lIns="0" tIns="0" rIns="0" bIns="0" rtlCol="0" anchor="ctr">
            <a:normAutofit/>
          </a:bodyPr>
          <a:lstStyle/>
          <a:p>
            <a:pPr algn="ctr" indent="0" marL="0">
              <a:buNone/>
            </a:pPr>
            <a:r>
              <a:rPr lang="en-US" sz="2700" b="1" dirty="0">
                <a:solidFill>
                  <a:srgbClr val="15A886"/>
                </a:solidFill>
                <a:latin typeface="Aptos" pitchFamily="34" charset="0"/>
                <a:ea typeface="Aptos" pitchFamily="34" charset="-122"/>
                <a:cs typeface="Aptos" pitchFamily="34" charset="-120"/>
              </a:rPr>
              <a:t>→</a:t>
            </a:r>
            <a:endParaRPr lang="en-US" sz="2700" dirty="0"/>
          </a:p>
        </p:txBody>
      </p:sp>
      <p:sp>
        <p:nvSpPr>
          <p:cNvPr id="15" name="Shape 13"/>
          <p:cNvSpPr/>
          <p:nvPr/>
        </p:nvSpPr>
        <p:spPr>
          <a:xfrm>
            <a:off x="6510528" y="2340864"/>
            <a:ext cx="2660904" cy="2240280"/>
          </a:xfrm>
          <a:prstGeom prst="roundRect">
            <a:avLst>
              <a:gd name="adj" fmla="val 7347"/>
            </a:avLst>
          </a:prstGeom>
          <a:solidFill>
            <a:srgbClr val="FFFFFF"/>
          </a:solidFill>
          <a:ln w="8890">
            <a:solidFill>
              <a:srgbClr val="D7E6E1"/>
            </a:solidFill>
            <a:prstDash val="solid"/>
          </a:ln>
        </p:spPr>
      </p:sp>
      <p:sp>
        <p:nvSpPr>
          <p:cNvPr id="16" name="Text 14"/>
          <p:cNvSpPr/>
          <p:nvPr/>
        </p:nvSpPr>
        <p:spPr>
          <a:xfrm>
            <a:off x="6693408" y="2560320"/>
            <a:ext cx="466344" cy="448056"/>
          </a:xfrm>
          <a:prstGeom prst="rect">
            <a:avLst/>
          </a:prstGeom>
          <a:noFill/>
          <a:ln/>
        </p:spPr>
        <p:txBody>
          <a:bodyPr wrap="square" lIns="0" tIns="0" rIns="0" bIns="0" rtlCol="0" anchor="ctr">
            <a:normAutofit/>
          </a:bodyPr>
          <a:lstStyle/>
          <a:p>
            <a:pPr indent="0" marL="0">
              <a:buNone/>
            </a:pPr>
            <a:r>
              <a:rPr lang="en-US" sz="2800" b="1" dirty="0">
                <a:solidFill>
                  <a:srgbClr val="22BE9B"/>
                </a:solidFill>
                <a:latin typeface="Aptos" pitchFamily="34" charset="0"/>
                <a:ea typeface="Aptos" pitchFamily="34" charset="-122"/>
                <a:cs typeface="Aptos" pitchFamily="34" charset="-120"/>
              </a:rPr>
              <a:t>3</a:t>
            </a:r>
            <a:endParaRPr lang="en-US" sz="2800" dirty="0"/>
          </a:p>
        </p:txBody>
      </p:sp>
      <p:sp>
        <p:nvSpPr>
          <p:cNvPr id="17" name="Text 15"/>
          <p:cNvSpPr/>
          <p:nvPr/>
        </p:nvSpPr>
        <p:spPr>
          <a:xfrm>
            <a:off x="6693408" y="3182112"/>
            <a:ext cx="2295144" cy="438912"/>
          </a:xfrm>
          <a:prstGeom prst="rect">
            <a:avLst/>
          </a:prstGeom>
          <a:noFill/>
          <a:ln/>
        </p:spPr>
        <p:txBody>
          <a:bodyPr wrap="square" lIns="0" tIns="0" rIns="0" bIns="0" rtlCol="0" anchor="ctr">
            <a:normAutofit/>
          </a:bodyPr>
          <a:lstStyle/>
          <a:p>
            <a:pPr indent="0" marL="0">
              <a:buNone/>
            </a:pPr>
            <a:r>
              <a:rPr lang="en-US" sz="1750" b="1" dirty="0">
                <a:solidFill>
                  <a:srgbClr val="153842"/>
                </a:solidFill>
                <a:latin typeface="Aptos" pitchFamily="34" charset="0"/>
                <a:ea typeface="Aptos" pitchFamily="34" charset="-122"/>
                <a:cs typeface="Aptos" pitchFamily="34" charset="-120"/>
              </a:rPr>
              <a:t>Validation + math</a:t>
            </a:r>
            <a:endParaRPr lang="en-US" sz="1750" dirty="0"/>
          </a:p>
        </p:txBody>
      </p:sp>
      <p:sp>
        <p:nvSpPr>
          <p:cNvPr id="18" name="Text 16"/>
          <p:cNvSpPr/>
          <p:nvPr/>
        </p:nvSpPr>
        <p:spPr>
          <a:xfrm>
            <a:off x="6693408" y="3785616"/>
            <a:ext cx="2267712" cy="585216"/>
          </a:xfrm>
          <a:prstGeom prst="rect">
            <a:avLst/>
          </a:prstGeom>
          <a:noFill/>
          <a:ln/>
        </p:spPr>
        <p:txBody>
          <a:bodyPr wrap="square" lIns="0" tIns="0" rIns="0" bIns="0" rtlCol="0" anchor="ctr">
            <a:normAutofit/>
          </a:bodyPr>
          <a:lstStyle/>
          <a:p>
            <a:pPr indent="0" marL="0">
              <a:buNone/>
            </a:pPr>
            <a:r>
              <a:rPr lang="en-US" sz="1360" dirty="0">
                <a:solidFill>
                  <a:srgbClr val="627B80"/>
                </a:solidFill>
                <a:latin typeface="Aptos" pitchFamily="34" charset="0"/>
                <a:ea typeface="Aptos" pitchFamily="34" charset="-122"/>
                <a:cs typeface="Aptos" pitchFamily="34" charset="-120"/>
              </a:rPr>
              <a:t>Check values, calculate cost</a:t>
            </a:r>
            <a:endParaRPr lang="en-US" sz="1360" dirty="0"/>
          </a:p>
        </p:txBody>
      </p:sp>
      <p:sp>
        <p:nvSpPr>
          <p:cNvPr id="19" name="Text 17"/>
          <p:cNvSpPr/>
          <p:nvPr/>
        </p:nvSpPr>
        <p:spPr>
          <a:xfrm>
            <a:off x="9125712" y="3044952"/>
            <a:ext cx="384048" cy="530352"/>
          </a:xfrm>
          <a:prstGeom prst="rect">
            <a:avLst/>
          </a:prstGeom>
          <a:noFill/>
          <a:ln/>
        </p:spPr>
        <p:txBody>
          <a:bodyPr wrap="square" lIns="0" tIns="0" rIns="0" bIns="0" rtlCol="0" anchor="ctr">
            <a:normAutofit/>
          </a:bodyPr>
          <a:lstStyle/>
          <a:p>
            <a:pPr algn="ctr" indent="0" marL="0">
              <a:buNone/>
            </a:pPr>
            <a:r>
              <a:rPr lang="en-US" sz="2700" b="1" dirty="0">
                <a:solidFill>
                  <a:srgbClr val="15A886"/>
                </a:solidFill>
                <a:latin typeface="Aptos" pitchFamily="34" charset="0"/>
                <a:ea typeface="Aptos" pitchFamily="34" charset="-122"/>
                <a:cs typeface="Aptos" pitchFamily="34" charset="-120"/>
              </a:rPr>
              <a:t>→</a:t>
            </a:r>
            <a:endParaRPr lang="en-US" sz="2700" dirty="0"/>
          </a:p>
        </p:txBody>
      </p:sp>
      <p:sp>
        <p:nvSpPr>
          <p:cNvPr id="20" name="Shape 18"/>
          <p:cNvSpPr/>
          <p:nvPr/>
        </p:nvSpPr>
        <p:spPr>
          <a:xfrm>
            <a:off x="9436608" y="2340864"/>
            <a:ext cx="2660904" cy="2240280"/>
          </a:xfrm>
          <a:prstGeom prst="roundRect">
            <a:avLst>
              <a:gd name="adj" fmla="val 7347"/>
            </a:avLst>
          </a:prstGeom>
          <a:solidFill>
            <a:srgbClr val="E8F7F0"/>
          </a:solidFill>
          <a:ln w="8890">
            <a:solidFill>
              <a:srgbClr val="D7E6E1"/>
            </a:solidFill>
            <a:prstDash val="solid"/>
          </a:ln>
        </p:spPr>
      </p:sp>
      <p:sp>
        <p:nvSpPr>
          <p:cNvPr id="21" name="Text 19"/>
          <p:cNvSpPr/>
          <p:nvPr/>
        </p:nvSpPr>
        <p:spPr>
          <a:xfrm>
            <a:off x="9619488" y="2560320"/>
            <a:ext cx="466344" cy="448056"/>
          </a:xfrm>
          <a:prstGeom prst="rect">
            <a:avLst/>
          </a:prstGeom>
          <a:noFill/>
          <a:ln/>
        </p:spPr>
        <p:txBody>
          <a:bodyPr wrap="square" lIns="0" tIns="0" rIns="0" bIns="0" rtlCol="0" anchor="ctr">
            <a:normAutofit/>
          </a:bodyPr>
          <a:lstStyle/>
          <a:p>
            <a:pPr indent="0" marL="0">
              <a:buNone/>
            </a:pPr>
            <a:r>
              <a:rPr lang="en-US" sz="2800" b="1" dirty="0">
                <a:solidFill>
                  <a:srgbClr val="22BE9B"/>
                </a:solidFill>
                <a:latin typeface="Aptos" pitchFamily="34" charset="0"/>
                <a:ea typeface="Aptos" pitchFamily="34" charset="-122"/>
                <a:cs typeface="Aptos" pitchFamily="34" charset="-120"/>
              </a:rPr>
              <a:t>4</a:t>
            </a:r>
            <a:endParaRPr lang="en-US" sz="2800" dirty="0"/>
          </a:p>
        </p:txBody>
      </p:sp>
      <p:sp>
        <p:nvSpPr>
          <p:cNvPr id="22" name="Text 20"/>
          <p:cNvSpPr/>
          <p:nvPr/>
        </p:nvSpPr>
        <p:spPr>
          <a:xfrm>
            <a:off x="9619488" y="3182112"/>
            <a:ext cx="2295144" cy="438912"/>
          </a:xfrm>
          <a:prstGeom prst="rect">
            <a:avLst/>
          </a:prstGeom>
          <a:noFill/>
          <a:ln/>
        </p:spPr>
        <p:txBody>
          <a:bodyPr wrap="square" lIns="0" tIns="0" rIns="0" bIns="0" rtlCol="0" anchor="ctr">
            <a:normAutofit/>
          </a:bodyPr>
          <a:lstStyle/>
          <a:p>
            <a:pPr indent="0" marL="0">
              <a:buNone/>
            </a:pPr>
            <a:r>
              <a:rPr lang="en-US" sz="1750" b="1" dirty="0">
                <a:solidFill>
                  <a:srgbClr val="153842"/>
                </a:solidFill>
                <a:latin typeface="Aptos" pitchFamily="34" charset="0"/>
                <a:ea typeface="Aptos" pitchFamily="34" charset="-122"/>
                <a:cs typeface="Aptos" pitchFamily="34" charset="-120"/>
              </a:rPr>
              <a:t>DOM update</a:t>
            </a:r>
            <a:endParaRPr lang="en-US" sz="1750" dirty="0"/>
          </a:p>
        </p:txBody>
      </p:sp>
      <p:sp>
        <p:nvSpPr>
          <p:cNvPr id="23" name="Text 21"/>
          <p:cNvSpPr/>
          <p:nvPr/>
        </p:nvSpPr>
        <p:spPr>
          <a:xfrm>
            <a:off x="9619488" y="3785616"/>
            <a:ext cx="2267712" cy="585216"/>
          </a:xfrm>
          <a:prstGeom prst="rect">
            <a:avLst/>
          </a:prstGeom>
          <a:noFill/>
          <a:ln/>
        </p:spPr>
        <p:txBody>
          <a:bodyPr wrap="square" lIns="0" tIns="0" rIns="0" bIns="0" rtlCol="0" anchor="ctr">
            <a:normAutofit/>
          </a:bodyPr>
          <a:lstStyle/>
          <a:p>
            <a:pPr indent="0" marL="0">
              <a:buNone/>
            </a:pPr>
            <a:r>
              <a:rPr lang="en-US" sz="1360" dirty="0">
                <a:solidFill>
                  <a:srgbClr val="627B80"/>
                </a:solidFill>
                <a:latin typeface="Aptos" pitchFamily="34" charset="0"/>
                <a:ea typeface="Aptos" pitchFamily="34" charset="-122"/>
                <a:cs typeface="Aptos" pitchFamily="34" charset="-120"/>
              </a:rPr>
              <a:t>Change price, alert, preview</a:t>
            </a:r>
            <a:endParaRPr lang="en-US" sz="1360" dirty="0"/>
          </a:p>
        </p:txBody>
      </p:sp>
      <p:sp>
        <p:nvSpPr>
          <p:cNvPr id="24" name="Shape 22"/>
          <p:cNvSpPr/>
          <p:nvPr/>
        </p:nvSpPr>
        <p:spPr>
          <a:xfrm>
            <a:off x="667512" y="5138928"/>
            <a:ext cx="10954512" cy="548640"/>
          </a:xfrm>
          <a:prstGeom prst="roundRect">
            <a:avLst>
              <a:gd name="adj" fmla="val 25000"/>
            </a:avLst>
          </a:prstGeom>
          <a:solidFill>
            <a:srgbClr val="12333C"/>
          </a:solidFill>
          <a:ln w="8890">
            <a:solidFill>
              <a:srgbClr val="12333C">
                <a:alpha val="0"/>
              </a:srgbClr>
            </a:solidFill>
            <a:prstDash val="solid"/>
          </a:ln>
        </p:spPr>
      </p:sp>
      <p:sp>
        <p:nvSpPr>
          <p:cNvPr id="25" name="Text 23"/>
          <p:cNvSpPr/>
          <p:nvPr/>
        </p:nvSpPr>
        <p:spPr>
          <a:xfrm>
            <a:off x="941832" y="5294376"/>
            <a:ext cx="10332720" cy="246888"/>
          </a:xfrm>
          <a:prstGeom prst="rect">
            <a:avLst/>
          </a:prstGeom>
          <a:noFill/>
          <a:ln/>
        </p:spPr>
        <p:txBody>
          <a:bodyPr wrap="square" lIns="0" tIns="0" rIns="0" bIns="0" rtlCol="0" anchor="ctr">
            <a:normAutofit/>
          </a:bodyPr>
          <a:lstStyle/>
          <a:p>
            <a:pPr indent="0" marL="0">
              <a:buNone/>
            </a:pPr>
            <a:r>
              <a:rPr lang="en-US" sz="1540" b="1" dirty="0">
                <a:solidFill>
                  <a:srgbClr val="FFFFFF"/>
                </a:solidFill>
                <a:latin typeface="Aptos" pitchFamily="34" charset="0"/>
                <a:ea typeface="Aptos" pitchFamily="34" charset="-122"/>
                <a:cs typeface="Aptos" pitchFamily="34" charset="-120"/>
              </a:rPr>
              <a:t>Example: CHANGE "bw → color"   →   Python calculate_total(...)   →   updated estimated total</a:t>
            </a:r>
            <a:endParaRPr lang="en-US" sz="1540" dirty="0"/>
          </a:p>
        </p:txBody>
      </p:sp>
      <p:sp>
        <p:nvSpPr>
          <p:cNvPr id="26" name="Shape 24"/>
          <p:cNvSpPr/>
          <p:nvPr/>
        </p:nvSpPr>
        <p:spPr>
          <a:xfrm>
            <a:off x="640080" y="6537960"/>
            <a:ext cx="10881360" cy="0"/>
          </a:xfrm>
          <a:prstGeom prst="line">
            <a:avLst/>
          </a:prstGeom>
          <a:noFill/>
          <a:ln w="12700">
            <a:solidFill>
              <a:srgbClr val="D7E6E1"/>
            </a:solidFill>
            <a:prstDash val="solid"/>
          </a:ln>
        </p:spPr>
      </p:sp>
      <p:sp>
        <p:nvSpPr>
          <p:cNvPr id="27" name="Text 25"/>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28" name="Text 26"/>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DANIEL’S CODE CONTRIBUTION</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Pure Python price calculator</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The formula is separate from HTML and works without a database.</a:t>
            </a:r>
            <a:endParaRPr lang="en-US" sz="1500" dirty="0"/>
          </a:p>
        </p:txBody>
      </p:sp>
      <p:sp>
        <p:nvSpPr>
          <p:cNvPr id="5" name="Shape 3"/>
          <p:cNvSpPr/>
          <p:nvPr/>
        </p:nvSpPr>
        <p:spPr>
          <a:xfrm>
            <a:off x="608076" y="1860804"/>
            <a:ext cx="8759952" cy="4498848"/>
          </a:xfrm>
          <a:prstGeom prst="roundRect">
            <a:avLst>
              <a:gd name="adj" fmla="val 2846"/>
            </a:avLst>
          </a:prstGeom>
          <a:solidFill>
            <a:srgbClr val="FFFFFF"/>
          </a:solidFill>
          <a:ln w="8890">
            <a:solidFill>
              <a:srgbClr val="D3E1DD"/>
            </a:solidFill>
            <a:prstDash val="solid"/>
          </a:ln>
        </p:spPr>
      </p:sp>
      <p:pic>
        <p:nvPicPr>
          <p:cNvPr id="6" name="Image 0" descr="/mnt/data/PrintConnect_EVD/presentation_assets/code_daniel_pricing.png">    </p:cNvPr>
          <p:cNvPicPr>
            <a:picLocks noChangeAspect="1"/>
          </p:cNvPicPr>
          <p:nvPr/>
        </p:nvPicPr>
        <p:blipFill>
          <a:blip r:embed="rId1"/>
          <a:stretch>
            <a:fillRect/>
          </a:stretch>
        </p:blipFill>
        <p:spPr>
          <a:xfrm>
            <a:off x="640080" y="1892808"/>
            <a:ext cx="8695944" cy="4434840"/>
          </a:xfrm>
          <a:prstGeom prst="rect">
            <a:avLst/>
          </a:prstGeom>
        </p:spPr>
      </p:pic>
      <p:sp>
        <p:nvSpPr>
          <p:cNvPr id="7" name="Shape 4"/>
          <p:cNvSpPr/>
          <p:nvPr/>
        </p:nvSpPr>
        <p:spPr>
          <a:xfrm>
            <a:off x="9555480" y="2029968"/>
            <a:ext cx="2002536" cy="4096512"/>
          </a:xfrm>
          <a:prstGeom prst="roundRect">
            <a:avLst>
              <a:gd name="adj" fmla="val 8219"/>
            </a:avLst>
          </a:prstGeom>
          <a:solidFill>
            <a:srgbClr val="E8F6F0"/>
          </a:solidFill>
          <a:ln w="8890">
            <a:solidFill>
              <a:srgbClr val="E8F6F0">
                <a:alpha val="0"/>
              </a:srgbClr>
            </a:solidFill>
            <a:prstDash val="solid"/>
          </a:ln>
        </p:spPr>
      </p:sp>
      <p:sp>
        <p:nvSpPr>
          <p:cNvPr id="8" name="Text 5"/>
          <p:cNvSpPr/>
          <p:nvPr/>
        </p:nvSpPr>
        <p:spPr>
          <a:xfrm>
            <a:off x="9784080" y="2286000"/>
            <a:ext cx="1499616" cy="365760"/>
          </a:xfrm>
          <a:prstGeom prst="rect">
            <a:avLst/>
          </a:prstGeom>
          <a:noFill/>
          <a:ln/>
        </p:spPr>
        <p:txBody>
          <a:bodyPr wrap="square" lIns="0" tIns="0" rIns="0" bIns="0" rtlCol="0" anchor="ctr">
            <a:normAutofit/>
          </a:bodyPr>
          <a:lstStyle/>
          <a:p>
            <a:pPr indent="0" marL="0">
              <a:buNone/>
            </a:pPr>
            <a:r>
              <a:rPr lang="en-US" sz="1900" b="1" dirty="0">
                <a:solidFill>
                  <a:srgbClr val="153842"/>
                </a:solidFill>
                <a:latin typeface="Aptos" pitchFamily="34" charset="0"/>
                <a:ea typeface="Aptos" pitchFamily="34" charset="-122"/>
                <a:cs typeface="Aptos" pitchFamily="34" charset="-120"/>
              </a:rPr>
              <a:t>Formula</a:t>
            </a:r>
            <a:endParaRPr lang="en-US" sz="1900" dirty="0"/>
          </a:p>
        </p:txBody>
      </p:sp>
      <p:sp>
        <p:nvSpPr>
          <p:cNvPr id="9" name="Text 6"/>
          <p:cNvSpPr/>
          <p:nvPr/>
        </p:nvSpPr>
        <p:spPr>
          <a:xfrm>
            <a:off x="9784080" y="2889504"/>
            <a:ext cx="1545336" cy="1508760"/>
          </a:xfrm>
          <a:prstGeom prst="rect">
            <a:avLst/>
          </a:prstGeom>
          <a:noFill/>
          <a:ln/>
        </p:spPr>
        <p:txBody>
          <a:bodyPr wrap="square" lIns="0" tIns="0" rIns="0" bIns="0" rtlCol="0" anchor="ctr">
            <a:normAutofit/>
          </a:bodyPr>
          <a:lstStyle/>
          <a:p>
            <a:pPr indent="0" marL="0">
              <a:buNone/>
            </a:pPr>
            <a:r>
              <a:rPr lang="en-US" sz="2200" b="1" dirty="0">
                <a:solidFill>
                  <a:srgbClr val="0A9977"/>
                </a:solidFill>
                <a:latin typeface="Aptos" pitchFamily="34" charset="0"/>
                <a:ea typeface="Aptos" pitchFamily="34" charset="-122"/>
                <a:cs typeface="Aptos" pitchFamily="34" charset="-120"/>
              </a:rPr>
              <a:t>RATE</a:t>
            </a:r>
            <a:endParaRPr lang="en-US" sz="2200" dirty="0"/>
          </a:p>
          <a:p>
            <a:pPr indent="0" marL="0">
              <a:buNone/>
            </a:pPr>
            <a:r>
              <a:rPr lang="en-US" sz="2200" b="1" dirty="0">
                <a:solidFill>
                  <a:srgbClr val="0A9977"/>
                </a:solidFill>
                <a:latin typeface="Aptos" pitchFamily="34" charset="0"/>
                <a:ea typeface="Aptos" pitchFamily="34" charset="-122"/>
                <a:cs typeface="Aptos" pitchFamily="34" charset="-120"/>
              </a:rPr>
              <a:t>× PAGES</a:t>
            </a:r>
            <a:endParaRPr lang="en-US" sz="2200" dirty="0"/>
          </a:p>
          <a:p>
            <a:pPr indent="0" marL="0">
              <a:buNone/>
            </a:pPr>
            <a:r>
              <a:rPr lang="en-US" sz="2200" b="1" dirty="0">
                <a:solidFill>
                  <a:srgbClr val="0A9977"/>
                </a:solidFill>
                <a:latin typeface="Aptos" pitchFamily="34" charset="0"/>
                <a:ea typeface="Aptos" pitchFamily="34" charset="-122"/>
                <a:cs typeface="Aptos" pitchFamily="34" charset="-120"/>
              </a:rPr>
              <a:t>× COPIES</a:t>
            </a:r>
            <a:endParaRPr lang="en-US" sz="2200" dirty="0"/>
          </a:p>
        </p:txBody>
      </p:sp>
      <p:sp>
        <p:nvSpPr>
          <p:cNvPr id="10" name="Text 7"/>
          <p:cNvSpPr/>
          <p:nvPr/>
        </p:nvSpPr>
        <p:spPr>
          <a:xfrm>
            <a:off x="9774936" y="4992624"/>
            <a:ext cx="1609344" cy="658368"/>
          </a:xfrm>
          <a:prstGeom prst="rect">
            <a:avLst/>
          </a:prstGeom>
          <a:noFill/>
          <a:ln/>
        </p:spPr>
        <p:txBody>
          <a:bodyPr wrap="square" lIns="0" tIns="0" rIns="0" bIns="0" rtlCol="0" anchor="ctr">
            <a:normAutofit/>
          </a:bodyPr>
          <a:lstStyle/>
          <a:p>
            <a:pPr indent="0" marL="0">
              <a:buNone/>
            </a:pPr>
            <a:r>
              <a:rPr lang="en-US" sz="1600" b="1" dirty="0">
                <a:solidFill>
                  <a:srgbClr val="153842"/>
                </a:solidFill>
                <a:latin typeface="Aptos" pitchFamily="34" charset="0"/>
                <a:ea typeface="Aptos" pitchFamily="34" charset="-122"/>
                <a:cs typeface="Aptos" pitchFamily="34" charset="-120"/>
              </a:rPr>
              <a:t>B&amp;W: ₱2</a:t>
            </a:r>
            <a:endParaRPr lang="en-US" sz="1600" dirty="0"/>
          </a:p>
          <a:p>
            <a:pPr indent="0" marL="0">
              <a:buNone/>
            </a:pPr>
            <a:r>
              <a:rPr lang="en-US" sz="1600" b="1" dirty="0">
                <a:solidFill>
                  <a:srgbClr val="153842"/>
                </a:solidFill>
                <a:latin typeface="Aptos" pitchFamily="34" charset="0"/>
                <a:ea typeface="Aptos" pitchFamily="34" charset="-122"/>
                <a:cs typeface="Aptos" pitchFamily="34" charset="-120"/>
              </a:rPr>
              <a:t>Color: ₱5</a:t>
            </a:r>
            <a:endParaRPr lang="en-US" sz="1600" dirty="0"/>
          </a:p>
        </p:txBody>
      </p:sp>
      <p:sp>
        <p:nvSpPr>
          <p:cNvPr id="11" name="Shape 8"/>
          <p:cNvSpPr/>
          <p:nvPr/>
        </p:nvSpPr>
        <p:spPr>
          <a:xfrm>
            <a:off x="640080" y="6537960"/>
            <a:ext cx="10881360" cy="0"/>
          </a:xfrm>
          <a:prstGeom prst="line">
            <a:avLst/>
          </a:prstGeom>
          <a:noFill/>
          <a:ln w="12700">
            <a:solidFill>
              <a:srgbClr val="D7E6E1"/>
            </a:solidFill>
            <a:prstDash val="solid"/>
          </a:ln>
        </p:spPr>
      </p:sp>
      <p:sp>
        <p:nvSpPr>
          <p:cNvPr id="12" name="Text 9"/>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13" name="Text 10"/>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DANIEL’S CODE CONTRIBUTION</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Input and change event handlers</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PyScript @when decorators respond as students interact with the form.</a:t>
            </a:r>
            <a:endParaRPr lang="en-US" sz="1500" dirty="0"/>
          </a:p>
        </p:txBody>
      </p:sp>
      <p:sp>
        <p:nvSpPr>
          <p:cNvPr id="5" name="Shape 3"/>
          <p:cNvSpPr/>
          <p:nvPr/>
        </p:nvSpPr>
        <p:spPr>
          <a:xfrm>
            <a:off x="589788" y="1851660"/>
            <a:ext cx="8796528" cy="4544568"/>
          </a:xfrm>
          <a:prstGeom prst="roundRect">
            <a:avLst>
              <a:gd name="adj" fmla="val 2817"/>
            </a:avLst>
          </a:prstGeom>
          <a:solidFill>
            <a:srgbClr val="FFFFFF"/>
          </a:solidFill>
          <a:ln w="8890">
            <a:solidFill>
              <a:srgbClr val="D3E1DD"/>
            </a:solidFill>
            <a:prstDash val="solid"/>
          </a:ln>
        </p:spPr>
      </p:sp>
      <p:pic>
        <p:nvPicPr>
          <p:cNvPr id="6" name="Image 0" descr="/mnt/data/PrintConnect_EVD/presentation_assets/code_daniel_events.png">    </p:cNvPr>
          <p:cNvPicPr>
            <a:picLocks noChangeAspect="1"/>
          </p:cNvPicPr>
          <p:nvPr/>
        </p:nvPicPr>
        <p:blipFill>
          <a:blip r:embed="rId1"/>
          <a:stretch>
            <a:fillRect/>
          </a:stretch>
        </p:blipFill>
        <p:spPr>
          <a:xfrm>
            <a:off x="621792" y="1883664"/>
            <a:ext cx="8732520" cy="4480560"/>
          </a:xfrm>
          <a:prstGeom prst="rect">
            <a:avLst/>
          </a:prstGeom>
        </p:spPr>
      </p:pic>
      <p:sp>
        <p:nvSpPr>
          <p:cNvPr id="7" name="Shape 4"/>
          <p:cNvSpPr/>
          <p:nvPr/>
        </p:nvSpPr>
        <p:spPr>
          <a:xfrm>
            <a:off x="9610344" y="1947672"/>
            <a:ext cx="1920240" cy="4325112"/>
          </a:xfrm>
          <a:prstGeom prst="roundRect">
            <a:avLst>
              <a:gd name="adj" fmla="val 8571"/>
            </a:avLst>
          </a:prstGeom>
          <a:solidFill>
            <a:srgbClr val="E6F4EF"/>
          </a:solidFill>
          <a:ln w="8890">
            <a:solidFill>
              <a:srgbClr val="E6F4EF">
                <a:alpha val="0"/>
              </a:srgbClr>
            </a:solidFill>
            <a:prstDash val="solid"/>
          </a:ln>
        </p:spPr>
      </p:sp>
      <p:sp>
        <p:nvSpPr>
          <p:cNvPr id="8" name="Shape 5"/>
          <p:cNvSpPr/>
          <p:nvPr/>
        </p:nvSpPr>
        <p:spPr>
          <a:xfrm>
            <a:off x="9838944" y="2249424"/>
            <a:ext cx="1307592" cy="320040"/>
          </a:xfrm>
          <a:prstGeom prst="roundRect">
            <a:avLst>
              <a:gd name="adj" fmla="val 37143"/>
            </a:avLst>
          </a:prstGeom>
          <a:solidFill>
            <a:srgbClr val="DBF5EA"/>
          </a:solidFill>
          <a:ln w="8890">
            <a:solidFill>
              <a:srgbClr val="DBF5EA">
                <a:alpha val="0"/>
              </a:srgbClr>
            </a:solidFill>
            <a:prstDash val="solid"/>
          </a:ln>
        </p:spPr>
      </p:sp>
      <p:sp>
        <p:nvSpPr>
          <p:cNvPr id="9" name="Text 6"/>
          <p:cNvSpPr/>
          <p:nvPr/>
        </p:nvSpPr>
        <p:spPr>
          <a:xfrm>
            <a:off x="9930384" y="2272284"/>
            <a:ext cx="1124712" cy="237744"/>
          </a:xfrm>
          <a:prstGeom prst="rect">
            <a:avLst/>
          </a:prstGeom>
          <a:noFill/>
          <a:ln/>
        </p:spPr>
        <p:txBody>
          <a:bodyPr wrap="square" lIns="0" tIns="0" rIns="0" bIns="0" rtlCol="0" anchor="ctr">
            <a:normAutofit/>
          </a:bodyPr>
          <a:lstStyle/>
          <a:p>
            <a:pPr indent="0" marL="0">
              <a:buNone/>
            </a:pPr>
            <a:r>
              <a:rPr lang="en-US" sz="1050" b="1" spc="50" kern="0" dirty="0">
                <a:solidFill>
                  <a:srgbClr val="11836D"/>
                </a:solidFill>
                <a:latin typeface="Aptos" pitchFamily="34" charset="0"/>
                <a:ea typeface="Aptos" pitchFamily="34" charset="-122"/>
                <a:cs typeface="Aptos" pitchFamily="34" charset="-120"/>
              </a:rPr>
              <a:t>EVENTS</a:t>
            </a:r>
            <a:endParaRPr lang="en-US" sz="1050" dirty="0"/>
          </a:p>
        </p:txBody>
      </p:sp>
      <p:sp>
        <p:nvSpPr>
          <p:cNvPr id="10" name="Text 7"/>
          <p:cNvSpPr/>
          <p:nvPr/>
        </p:nvSpPr>
        <p:spPr>
          <a:xfrm>
            <a:off x="9820656" y="2834640"/>
            <a:ext cx="1508760" cy="429768"/>
          </a:xfrm>
          <a:prstGeom prst="rect">
            <a:avLst/>
          </a:prstGeom>
          <a:noFill/>
          <a:ln/>
        </p:spPr>
        <p:txBody>
          <a:bodyPr wrap="square" lIns="0" tIns="0" rIns="0" bIns="0" rtlCol="0" anchor="ctr">
            <a:normAutofit/>
          </a:bodyPr>
          <a:lstStyle/>
          <a:p>
            <a:pPr indent="0" marL="0">
              <a:buNone/>
            </a:pPr>
            <a:r>
              <a:rPr lang="en-US" sz="2200" b="1" dirty="0">
                <a:solidFill>
                  <a:srgbClr val="153842"/>
                </a:solidFill>
                <a:latin typeface="Aptos" pitchFamily="34" charset="0"/>
                <a:ea typeface="Aptos" pitchFamily="34" charset="-122"/>
                <a:cs typeface="Aptos" pitchFamily="34" charset="-120"/>
              </a:rPr>
              <a:t>input</a:t>
            </a:r>
            <a:endParaRPr lang="en-US" sz="2200" dirty="0"/>
          </a:p>
        </p:txBody>
      </p:sp>
      <p:sp>
        <p:nvSpPr>
          <p:cNvPr id="11" name="Text 8"/>
          <p:cNvSpPr/>
          <p:nvPr/>
        </p:nvSpPr>
        <p:spPr>
          <a:xfrm>
            <a:off x="9820656" y="3502152"/>
            <a:ext cx="1508760" cy="429768"/>
          </a:xfrm>
          <a:prstGeom prst="rect">
            <a:avLst/>
          </a:prstGeom>
          <a:noFill/>
          <a:ln/>
        </p:spPr>
        <p:txBody>
          <a:bodyPr wrap="square" lIns="0" tIns="0" rIns="0" bIns="0" rtlCol="0" anchor="ctr">
            <a:normAutofit/>
          </a:bodyPr>
          <a:lstStyle/>
          <a:p>
            <a:pPr indent="0" marL="0">
              <a:buNone/>
            </a:pPr>
            <a:r>
              <a:rPr lang="en-US" sz="2200" b="1" dirty="0">
                <a:solidFill>
                  <a:srgbClr val="153842"/>
                </a:solidFill>
                <a:latin typeface="Aptos" pitchFamily="34" charset="0"/>
                <a:ea typeface="Aptos" pitchFamily="34" charset="-122"/>
                <a:cs typeface="Aptos" pitchFamily="34" charset="-120"/>
              </a:rPr>
              <a:t>change</a:t>
            </a:r>
            <a:endParaRPr lang="en-US" sz="2200" dirty="0"/>
          </a:p>
        </p:txBody>
      </p:sp>
      <p:sp>
        <p:nvSpPr>
          <p:cNvPr id="12" name="Text 9"/>
          <p:cNvSpPr/>
          <p:nvPr/>
        </p:nvSpPr>
        <p:spPr>
          <a:xfrm>
            <a:off x="9820656" y="4389120"/>
            <a:ext cx="1527048" cy="731520"/>
          </a:xfrm>
          <a:prstGeom prst="rect">
            <a:avLst/>
          </a:prstGeom>
          <a:noFill/>
          <a:ln/>
        </p:spPr>
        <p:txBody>
          <a:bodyPr wrap="square" lIns="0" tIns="0" rIns="0" bIns="0" rtlCol="0" anchor="ctr">
            <a:normAutofit/>
          </a:bodyPr>
          <a:lstStyle/>
          <a:p>
            <a:pPr indent="0" marL="0">
              <a:buNone/>
            </a:pPr>
            <a:r>
              <a:rPr lang="en-US" sz="1550" b="1" dirty="0">
                <a:solidFill>
                  <a:srgbClr val="0D8E76"/>
                </a:solidFill>
                <a:latin typeface="Aptos" pitchFamily="34" charset="0"/>
                <a:ea typeface="Aptos" pitchFamily="34" charset="-122"/>
                <a:cs typeface="Aptos" pitchFamily="34" charset="-120"/>
              </a:rPr>
              <a:t>update_quote()</a:t>
            </a:r>
            <a:endParaRPr lang="en-US" sz="1550" dirty="0"/>
          </a:p>
        </p:txBody>
      </p:sp>
      <p:sp>
        <p:nvSpPr>
          <p:cNvPr id="13" name="Shape 10"/>
          <p:cNvSpPr/>
          <p:nvPr/>
        </p:nvSpPr>
        <p:spPr>
          <a:xfrm>
            <a:off x="640080" y="6537960"/>
            <a:ext cx="10881360" cy="0"/>
          </a:xfrm>
          <a:prstGeom prst="line">
            <a:avLst/>
          </a:prstGeom>
          <a:noFill/>
          <a:ln w="12700">
            <a:solidFill>
              <a:srgbClr val="D7E6E1"/>
            </a:solidFill>
            <a:prstDash val="solid"/>
          </a:ln>
        </p:spPr>
      </p:sp>
      <p:sp>
        <p:nvSpPr>
          <p:cNvPr id="14" name="Text 11"/>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15" name="Text 12"/>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DANIEL’S CODE CONTRIBUTION</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Form submission and validation</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A submit event generates a browser-only quote and a click event resets the form.</a:t>
            </a:r>
            <a:endParaRPr lang="en-US" sz="1500" dirty="0"/>
          </a:p>
        </p:txBody>
      </p:sp>
      <p:sp>
        <p:nvSpPr>
          <p:cNvPr id="5" name="Shape 3"/>
          <p:cNvSpPr/>
          <p:nvPr/>
        </p:nvSpPr>
        <p:spPr>
          <a:xfrm>
            <a:off x="580644" y="1860804"/>
            <a:ext cx="8805672" cy="4526280"/>
          </a:xfrm>
          <a:prstGeom prst="roundRect">
            <a:avLst>
              <a:gd name="adj" fmla="val 2828"/>
            </a:avLst>
          </a:prstGeom>
          <a:solidFill>
            <a:srgbClr val="FFFFFF"/>
          </a:solidFill>
          <a:ln w="8890">
            <a:solidFill>
              <a:srgbClr val="D3E1DD"/>
            </a:solidFill>
            <a:prstDash val="solid"/>
          </a:ln>
        </p:spPr>
      </p:sp>
      <p:pic>
        <p:nvPicPr>
          <p:cNvPr id="6" name="Image 0" descr="/mnt/data/PrintConnect_EVD/presentation_assets/code_daniel_submit.png">    </p:cNvPr>
          <p:cNvPicPr>
            <a:picLocks noChangeAspect="1"/>
          </p:cNvPicPr>
          <p:nvPr/>
        </p:nvPicPr>
        <p:blipFill>
          <a:blip r:embed="rId1"/>
          <a:stretch>
            <a:fillRect/>
          </a:stretch>
        </p:blipFill>
        <p:spPr>
          <a:xfrm>
            <a:off x="612648" y="1892808"/>
            <a:ext cx="8741664" cy="4462272"/>
          </a:xfrm>
          <a:prstGeom prst="rect">
            <a:avLst/>
          </a:prstGeom>
        </p:spPr>
      </p:pic>
      <p:sp>
        <p:nvSpPr>
          <p:cNvPr id="7" name="Shape 4"/>
          <p:cNvSpPr/>
          <p:nvPr/>
        </p:nvSpPr>
        <p:spPr>
          <a:xfrm>
            <a:off x="9592056" y="1947672"/>
            <a:ext cx="1947672" cy="4325112"/>
          </a:xfrm>
          <a:prstGeom prst="roundRect">
            <a:avLst>
              <a:gd name="adj" fmla="val 8451"/>
            </a:avLst>
          </a:prstGeom>
          <a:solidFill>
            <a:srgbClr val="E6F4EF"/>
          </a:solidFill>
          <a:ln w="8890">
            <a:solidFill>
              <a:srgbClr val="E6F4EF">
                <a:alpha val="0"/>
              </a:srgbClr>
            </a:solidFill>
            <a:prstDash val="solid"/>
          </a:ln>
        </p:spPr>
      </p:sp>
      <p:sp>
        <p:nvSpPr>
          <p:cNvPr id="8" name="Text 5"/>
          <p:cNvSpPr/>
          <p:nvPr/>
        </p:nvSpPr>
        <p:spPr>
          <a:xfrm>
            <a:off x="9811512" y="2459736"/>
            <a:ext cx="1527048" cy="411480"/>
          </a:xfrm>
          <a:prstGeom prst="rect">
            <a:avLst/>
          </a:prstGeom>
          <a:noFill/>
          <a:ln/>
        </p:spPr>
        <p:txBody>
          <a:bodyPr wrap="square" lIns="0" tIns="0" rIns="0" bIns="0" rtlCol="0" anchor="ctr">
            <a:normAutofit/>
          </a:bodyPr>
          <a:lstStyle/>
          <a:p>
            <a:pPr indent="0" marL="0">
              <a:buNone/>
            </a:pPr>
            <a:r>
              <a:rPr lang="en-US" sz="2300" b="1" dirty="0">
                <a:solidFill>
                  <a:srgbClr val="153842"/>
                </a:solidFill>
                <a:latin typeface="Aptos" pitchFamily="34" charset="0"/>
                <a:ea typeface="Aptos" pitchFamily="34" charset="-122"/>
                <a:cs typeface="Aptos" pitchFamily="34" charset="-120"/>
              </a:rPr>
              <a:t>submit</a:t>
            </a:r>
            <a:endParaRPr lang="en-US" sz="2300" dirty="0"/>
          </a:p>
        </p:txBody>
      </p:sp>
      <p:sp>
        <p:nvSpPr>
          <p:cNvPr id="9" name="Text 6"/>
          <p:cNvSpPr/>
          <p:nvPr/>
        </p:nvSpPr>
        <p:spPr>
          <a:xfrm>
            <a:off x="9802368" y="3127248"/>
            <a:ext cx="1600200" cy="941832"/>
          </a:xfrm>
          <a:prstGeom prst="rect">
            <a:avLst/>
          </a:prstGeom>
          <a:noFill/>
          <a:ln/>
        </p:spPr>
        <p:txBody>
          <a:bodyPr wrap="square" lIns="0" tIns="0" rIns="0" bIns="0" rtlCol="0" anchor="ctr">
            <a:normAutofit/>
          </a:bodyPr>
          <a:lstStyle/>
          <a:p>
            <a:pPr indent="0" marL="0">
              <a:buNone/>
            </a:pPr>
            <a:r>
              <a:rPr lang="en-US" sz="1430" dirty="0">
                <a:solidFill>
                  <a:srgbClr val="153842"/>
                </a:solidFill>
                <a:latin typeface="Aptos" pitchFamily="34" charset="0"/>
                <a:ea typeface="Aptos" pitchFamily="34" charset="-122"/>
                <a:cs typeface="Aptos" pitchFamily="34" charset="-120"/>
              </a:rPr>
              <a:t>Validate name, service and counts.</a:t>
            </a:r>
            <a:endParaRPr lang="en-US" sz="1430" dirty="0"/>
          </a:p>
        </p:txBody>
      </p:sp>
      <p:sp>
        <p:nvSpPr>
          <p:cNvPr id="10" name="Text 7"/>
          <p:cNvSpPr/>
          <p:nvPr/>
        </p:nvSpPr>
        <p:spPr>
          <a:xfrm>
            <a:off x="9811512" y="4389120"/>
            <a:ext cx="1508760" cy="402336"/>
          </a:xfrm>
          <a:prstGeom prst="rect">
            <a:avLst/>
          </a:prstGeom>
          <a:noFill/>
          <a:ln/>
        </p:spPr>
        <p:txBody>
          <a:bodyPr wrap="square" lIns="0" tIns="0" rIns="0" bIns="0" rtlCol="0" anchor="ctr">
            <a:normAutofit/>
          </a:bodyPr>
          <a:lstStyle/>
          <a:p>
            <a:pPr indent="0" marL="0">
              <a:buNone/>
            </a:pPr>
            <a:r>
              <a:rPr lang="en-US" sz="2300" b="1" dirty="0">
                <a:solidFill>
                  <a:srgbClr val="153842"/>
                </a:solidFill>
                <a:latin typeface="Aptos" pitchFamily="34" charset="0"/>
                <a:ea typeface="Aptos" pitchFamily="34" charset="-122"/>
                <a:cs typeface="Aptos" pitchFamily="34" charset="-120"/>
              </a:rPr>
              <a:t>click</a:t>
            </a:r>
            <a:endParaRPr lang="en-US" sz="2300" dirty="0"/>
          </a:p>
        </p:txBody>
      </p:sp>
      <p:sp>
        <p:nvSpPr>
          <p:cNvPr id="11" name="Text 8"/>
          <p:cNvSpPr/>
          <p:nvPr/>
        </p:nvSpPr>
        <p:spPr>
          <a:xfrm>
            <a:off x="9802368" y="5010912"/>
            <a:ext cx="1563624" cy="795528"/>
          </a:xfrm>
          <a:prstGeom prst="rect">
            <a:avLst/>
          </a:prstGeom>
          <a:noFill/>
          <a:ln/>
        </p:spPr>
        <p:txBody>
          <a:bodyPr wrap="square" lIns="0" tIns="0" rIns="0" bIns="0" rtlCol="0" anchor="ctr">
            <a:normAutofit/>
          </a:bodyPr>
          <a:lstStyle/>
          <a:p>
            <a:pPr indent="0" marL="0">
              <a:buNone/>
            </a:pPr>
            <a:r>
              <a:rPr lang="en-US" sz="1430" dirty="0">
                <a:solidFill>
                  <a:srgbClr val="153842"/>
                </a:solidFill>
                <a:latin typeface="Aptos" pitchFamily="34" charset="0"/>
                <a:ea typeface="Aptos" pitchFamily="34" charset="-122"/>
                <a:cs typeface="Aptos" pitchFamily="34" charset="-120"/>
              </a:rPr>
              <a:t>Reset fields and the estimate.</a:t>
            </a:r>
            <a:endParaRPr lang="en-US" sz="1430" dirty="0"/>
          </a:p>
        </p:txBody>
      </p:sp>
      <p:sp>
        <p:nvSpPr>
          <p:cNvPr id="12" name="Shape 9"/>
          <p:cNvSpPr/>
          <p:nvPr/>
        </p:nvSpPr>
        <p:spPr>
          <a:xfrm>
            <a:off x="640080" y="6537960"/>
            <a:ext cx="10881360" cy="0"/>
          </a:xfrm>
          <a:prstGeom prst="line">
            <a:avLst/>
          </a:prstGeom>
          <a:noFill/>
          <a:ln w="12700">
            <a:solidFill>
              <a:srgbClr val="D7E6E1"/>
            </a:solidFill>
            <a:prstDash val="solid"/>
          </a:ln>
        </p:spPr>
      </p:sp>
      <p:sp>
        <p:nvSpPr>
          <p:cNvPr id="13" name="Text 10"/>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14" name="Text 11"/>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VERIFICATION AND LIMITATIONS</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Testing the pricing rules</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Pure Python tests verify correct totals and reject invalid inputs.</a:t>
            </a:r>
            <a:endParaRPr lang="en-US" sz="1500" dirty="0"/>
          </a:p>
        </p:txBody>
      </p:sp>
      <p:sp>
        <p:nvSpPr>
          <p:cNvPr id="5" name="Shape 3"/>
          <p:cNvSpPr/>
          <p:nvPr/>
        </p:nvSpPr>
        <p:spPr>
          <a:xfrm>
            <a:off x="731520" y="2148840"/>
            <a:ext cx="10716768" cy="493776"/>
          </a:xfrm>
          <a:prstGeom prst="roundRect">
            <a:avLst>
              <a:gd name="adj" fmla="val 18519"/>
            </a:avLst>
          </a:prstGeom>
          <a:solidFill>
            <a:srgbClr val="FFFFFF"/>
          </a:solidFill>
          <a:ln w="8890">
            <a:solidFill>
              <a:srgbClr val="D7E6E1"/>
            </a:solidFill>
            <a:prstDash val="solid"/>
          </a:ln>
        </p:spPr>
      </p:sp>
      <p:sp>
        <p:nvSpPr>
          <p:cNvPr id="6" name="Text 4"/>
          <p:cNvSpPr/>
          <p:nvPr/>
        </p:nvSpPr>
        <p:spPr>
          <a:xfrm>
            <a:off x="960120" y="2258568"/>
            <a:ext cx="4983480" cy="265176"/>
          </a:xfrm>
          <a:prstGeom prst="rect">
            <a:avLst/>
          </a:prstGeom>
          <a:noFill/>
          <a:ln/>
        </p:spPr>
        <p:txBody>
          <a:bodyPr wrap="square" lIns="0" tIns="0" rIns="0" bIns="0" rtlCol="0" anchor="ctr">
            <a:normAutofit/>
          </a:bodyPr>
          <a:lstStyle/>
          <a:p>
            <a:pPr indent="0" marL="0">
              <a:buNone/>
            </a:pPr>
            <a:r>
              <a:rPr lang="en-US" sz="1500" dirty="0">
                <a:solidFill>
                  <a:srgbClr val="153842"/>
                </a:solidFill>
                <a:latin typeface="Aptos" pitchFamily="34" charset="0"/>
                <a:ea typeface="Aptos" pitchFamily="34" charset="-122"/>
                <a:cs typeface="Aptos" pitchFamily="34" charset="-120"/>
              </a:rPr>
              <a:t>8 B&amp;W pages × 2 copies</a:t>
            </a:r>
            <a:endParaRPr lang="en-US" sz="1500" dirty="0"/>
          </a:p>
        </p:txBody>
      </p:sp>
      <p:sp>
        <p:nvSpPr>
          <p:cNvPr id="7" name="Text 5"/>
          <p:cNvSpPr/>
          <p:nvPr/>
        </p:nvSpPr>
        <p:spPr>
          <a:xfrm>
            <a:off x="6163056" y="2258568"/>
            <a:ext cx="2926080" cy="274320"/>
          </a:xfrm>
          <a:prstGeom prst="rect">
            <a:avLst/>
          </a:prstGeom>
          <a:noFill/>
          <a:ln/>
        </p:spPr>
        <p:txBody>
          <a:bodyPr wrap="square" lIns="0" tIns="0" rIns="0" bIns="0" rtlCol="0" anchor="ctr">
            <a:normAutofit/>
          </a:bodyPr>
          <a:lstStyle/>
          <a:p>
            <a:pPr indent="0" marL="0">
              <a:buNone/>
            </a:pPr>
            <a:r>
              <a:rPr lang="en-US" sz="1530" b="1" dirty="0">
                <a:solidFill>
                  <a:srgbClr val="153842"/>
                </a:solidFill>
                <a:latin typeface="Aptos" pitchFamily="34" charset="0"/>
                <a:ea typeface="Aptos" pitchFamily="34" charset="-122"/>
                <a:cs typeface="Aptos" pitchFamily="34" charset="-120"/>
              </a:rPr>
              <a:t>₱32</a:t>
            </a:r>
            <a:endParaRPr lang="en-US" sz="1530" dirty="0"/>
          </a:p>
        </p:txBody>
      </p:sp>
      <p:sp>
        <p:nvSpPr>
          <p:cNvPr id="8" name="Shape 6"/>
          <p:cNvSpPr/>
          <p:nvPr/>
        </p:nvSpPr>
        <p:spPr>
          <a:xfrm>
            <a:off x="9957816" y="2240280"/>
            <a:ext cx="1133856" cy="320040"/>
          </a:xfrm>
          <a:prstGeom prst="roundRect">
            <a:avLst>
              <a:gd name="adj" fmla="val 37143"/>
            </a:avLst>
          </a:prstGeom>
          <a:solidFill>
            <a:srgbClr val="DDF7EB"/>
          </a:solidFill>
          <a:ln w="8890">
            <a:solidFill>
              <a:srgbClr val="DDF7EB">
                <a:alpha val="0"/>
              </a:srgbClr>
            </a:solidFill>
            <a:prstDash val="solid"/>
          </a:ln>
        </p:spPr>
      </p:sp>
      <p:sp>
        <p:nvSpPr>
          <p:cNvPr id="9" name="Text 7"/>
          <p:cNvSpPr/>
          <p:nvPr/>
        </p:nvSpPr>
        <p:spPr>
          <a:xfrm>
            <a:off x="10049256" y="2263140"/>
            <a:ext cx="950976" cy="237744"/>
          </a:xfrm>
          <a:prstGeom prst="rect">
            <a:avLst/>
          </a:prstGeom>
          <a:noFill/>
          <a:ln/>
        </p:spPr>
        <p:txBody>
          <a:bodyPr wrap="square" lIns="0" tIns="0" rIns="0" bIns="0" rtlCol="0" anchor="ctr">
            <a:normAutofit/>
          </a:bodyPr>
          <a:lstStyle/>
          <a:p>
            <a:pPr indent="0" marL="0">
              <a:buNone/>
            </a:pPr>
            <a:r>
              <a:rPr lang="en-US" sz="1050" b="1" spc="50" kern="0" dirty="0">
                <a:solidFill>
                  <a:srgbClr val="09896D"/>
                </a:solidFill>
                <a:latin typeface="Aptos" pitchFamily="34" charset="0"/>
                <a:ea typeface="Aptos" pitchFamily="34" charset="-122"/>
                <a:cs typeface="Aptos" pitchFamily="34" charset="-120"/>
              </a:rPr>
              <a:t>PASS</a:t>
            </a:r>
            <a:endParaRPr lang="en-US" sz="1050" dirty="0"/>
          </a:p>
        </p:txBody>
      </p:sp>
      <p:sp>
        <p:nvSpPr>
          <p:cNvPr id="10" name="Shape 8"/>
          <p:cNvSpPr/>
          <p:nvPr/>
        </p:nvSpPr>
        <p:spPr>
          <a:xfrm>
            <a:off x="731520" y="2788920"/>
            <a:ext cx="10716768" cy="493776"/>
          </a:xfrm>
          <a:prstGeom prst="roundRect">
            <a:avLst>
              <a:gd name="adj" fmla="val 18519"/>
            </a:avLst>
          </a:prstGeom>
          <a:solidFill>
            <a:srgbClr val="FFFFFF"/>
          </a:solidFill>
          <a:ln w="8890">
            <a:solidFill>
              <a:srgbClr val="D7E6E1"/>
            </a:solidFill>
            <a:prstDash val="solid"/>
          </a:ln>
        </p:spPr>
      </p:sp>
      <p:sp>
        <p:nvSpPr>
          <p:cNvPr id="11" name="Text 9"/>
          <p:cNvSpPr/>
          <p:nvPr/>
        </p:nvSpPr>
        <p:spPr>
          <a:xfrm>
            <a:off x="960120" y="2898648"/>
            <a:ext cx="4983480" cy="265176"/>
          </a:xfrm>
          <a:prstGeom prst="rect">
            <a:avLst/>
          </a:prstGeom>
          <a:noFill/>
          <a:ln/>
        </p:spPr>
        <p:txBody>
          <a:bodyPr wrap="square" lIns="0" tIns="0" rIns="0" bIns="0" rtlCol="0" anchor="ctr">
            <a:normAutofit/>
          </a:bodyPr>
          <a:lstStyle/>
          <a:p>
            <a:pPr indent="0" marL="0">
              <a:buNone/>
            </a:pPr>
            <a:r>
              <a:rPr lang="en-US" sz="1500" dirty="0">
                <a:solidFill>
                  <a:srgbClr val="153842"/>
                </a:solidFill>
                <a:latin typeface="Aptos" pitchFamily="34" charset="0"/>
                <a:ea typeface="Aptos" pitchFamily="34" charset="-122"/>
                <a:cs typeface="Aptos" pitchFamily="34" charset="-120"/>
              </a:rPr>
              <a:t>3 color pages × 4 copies</a:t>
            </a:r>
            <a:endParaRPr lang="en-US" sz="1500" dirty="0"/>
          </a:p>
        </p:txBody>
      </p:sp>
      <p:sp>
        <p:nvSpPr>
          <p:cNvPr id="12" name="Text 10"/>
          <p:cNvSpPr/>
          <p:nvPr/>
        </p:nvSpPr>
        <p:spPr>
          <a:xfrm>
            <a:off x="6163056" y="2898648"/>
            <a:ext cx="2926080" cy="274320"/>
          </a:xfrm>
          <a:prstGeom prst="rect">
            <a:avLst/>
          </a:prstGeom>
          <a:noFill/>
          <a:ln/>
        </p:spPr>
        <p:txBody>
          <a:bodyPr wrap="square" lIns="0" tIns="0" rIns="0" bIns="0" rtlCol="0" anchor="ctr">
            <a:normAutofit/>
          </a:bodyPr>
          <a:lstStyle/>
          <a:p>
            <a:pPr indent="0" marL="0">
              <a:buNone/>
            </a:pPr>
            <a:r>
              <a:rPr lang="en-US" sz="1530" b="1" dirty="0">
                <a:solidFill>
                  <a:srgbClr val="153842"/>
                </a:solidFill>
                <a:latin typeface="Aptos" pitchFamily="34" charset="0"/>
                <a:ea typeface="Aptos" pitchFamily="34" charset="-122"/>
                <a:cs typeface="Aptos" pitchFamily="34" charset="-120"/>
              </a:rPr>
              <a:t>₱60</a:t>
            </a:r>
            <a:endParaRPr lang="en-US" sz="1530" dirty="0"/>
          </a:p>
        </p:txBody>
      </p:sp>
      <p:sp>
        <p:nvSpPr>
          <p:cNvPr id="13" name="Shape 11"/>
          <p:cNvSpPr/>
          <p:nvPr/>
        </p:nvSpPr>
        <p:spPr>
          <a:xfrm>
            <a:off x="9957816" y="2880360"/>
            <a:ext cx="1133856" cy="320040"/>
          </a:xfrm>
          <a:prstGeom prst="roundRect">
            <a:avLst>
              <a:gd name="adj" fmla="val 37143"/>
            </a:avLst>
          </a:prstGeom>
          <a:solidFill>
            <a:srgbClr val="DDF7EB"/>
          </a:solidFill>
          <a:ln w="8890">
            <a:solidFill>
              <a:srgbClr val="DDF7EB">
                <a:alpha val="0"/>
              </a:srgbClr>
            </a:solidFill>
            <a:prstDash val="solid"/>
          </a:ln>
        </p:spPr>
      </p:sp>
      <p:sp>
        <p:nvSpPr>
          <p:cNvPr id="14" name="Text 12"/>
          <p:cNvSpPr/>
          <p:nvPr/>
        </p:nvSpPr>
        <p:spPr>
          <a:xfrm>
            <a:off x="10049256" y="2903220"/>
            <a:ext cx="950976" cy="237744"/>
          </a:xfrm>
          <a:prstGeom prst="rect">
            <a:avLst/>
          </a:prstGeom>
          <a:noFill/>
          <a:ln/>
        </p:spPr>
        <p:txBody>
          <a:bodyPr wrap="square" lIns="0" tIns="0" rIns="0" bIns="0" rtlCol="0" anchor="ctr">
            <a:normAutofit/>
          </a:bodyPr>
          <a:lstStyle/>
          <a:p>
            <a:pPr indent="0" marL="0">
              <a:buNone/>
            </a:pPr>
            <a:r>
              <a:rPr lang="en-US" sz="1050" b="1" spc="50" kern="0" dirty="0">
                <a:solidFill>
                  <a:srgbClr val="09896D"/>
                </a:solidFill>
                <a:latin typeface="Aptos" pitchFamily="34" charset="0"/>
                <a:ea typeface="Aptos" pitchFamily="34" charset="-122"/>
                <a:cs typeface="Aptos" pitchFamily="34" charset="-120"/>
              </a:rPr>
              <a:t>PASS</a:t>
            </a:r>
            <a:endParaRPr lang="en-US" sz="1050" dirty="0"/>
          </a:p>
        </p:txBody>
      </p:sp>
      <p:sp>
        <p:nvSpPr>
          <p:cNvPr id="15" name="Shape 13"/>
          <p:cNvSpPr/>
          <p:nvPr/>
        </p:nvSpPr>
        <p:spPr>
          <a:xfrm>
            <a:off x="731520" y="3429000"/>
            <a:ext cx="10716768" cy="493776"/>
          </a:xfrm>
          <a:prstGeom prst="roundRect">
            <a:avLst>
              <a:gd name="adj" fmla="val 18519"/>
            </a:avLst>
          </a:prstGeom>
          <a:solidFill>
            <a:srgbClr val="FFFFFF"/>
          </a:solidFill>
          <a:ln w="8890">
            <a:solidFill>
              <a:srgbClr val="D7E6E1"/>
            </a:solidFill>
            <a:prstDash val="solid"/>
          </a:ln>
        </p:spPr>
      </p:sp>
      <p:sp>
        <p:nvSpPr>
          <p:cNvPr id="16" name="Text 14"/>
          <p:cNvSpPr/>
          <p:nvPr/>
        </p:nvSpPr>
        <p:spPr>
          <a:xfrm>
            <a:off x="960120" y="3538728"/>
            <a:ext cx="4983480" cy="265176"/>
          </a:xfrm>
          <a:prstGeom prst="rect">
            <a:avLst/>
          </a:prstGeom>
          <a:noFill/>
          <a:ln/>
        </p:spPr>
        <p:txBody>
          <a:bodyPr wrap="square" lIns="0" tIns="0" rIns="0" bIns="0" rtlCol="0" anchor="ctr">
            <a:normAutofit/>
          </a:bodyPr>
          <a:lstStyle/>
          <a:p>
            <a:pPr indent="0" marL="0">
              <a:buNone/>
            </a:pPr>
            <a:r>
              <a:rPr lang="en-US" sz="1500" dirty="0">
                <a:solidFill>
                  <a:srgbClr val="153842"/>
                </a:solidFill>
                <a:latin typeface="Aptos" pitchFamily="34" charset="0"/>
                <a:ea typeface="Aptos" pitchFamily="34" charset="-122"/>
                <a:cs typeface="Aptos" pitchFamily="34" charset="-120"/>
              </a:rPr>
              <a:t>0 or 501 pages</a:t>
            </a:r>
            <a:endParaRPr lang="en-US" sz="1500" dirty="0"/>
          </a:p>
        </p:txBody>
      </p:sp>
      <p:sp>
        <p:nvSpPr>
          <p:cNvPr id="17" name="Text 15"/>
          <p:cNvSpPr/>
          <p:nvPr/>
        </p:nvSpPr>
        <p:spPr>
          <a:xfrm>
            <a:off x="6163056" y="3538728"/>
            <a:ext cx="2926080" cy="274320"/>
          </a:xfrm>
          <a:prstGeom prst="rect">
            <a:avLst/>
          </a:prstGeom>
          <a:noFill/>
          <a:ln/>
        </p:spPr>
        <p:txBody>
          <a:bodyPr wrap="square" lIns="0" tIns="0" rIns="0" bIns="0" rtlCol="0" anchor="ctr">
            <a:normAutofit/>
          </a:bodyPr>
          <a:lstStyle/>
          <a:p>
            <a:pPr indent="0" marL="0">
              <a:buNone/>
            </a:pPr>
            <a:r>
              <a:rPr lang="en-US" sz="1530" b="1" dirty="0">
                <a:solidFill>
                  <a:srgbClr val="153842"/>
                </a:solidFill>
                <a:latin typeface="Aptos" pitchFamily="34" charset="0"/>
                <a:ea typeface="Aptos" pitchFamily="34" charset="-122"/>
                <a:cs typeface="Aptos" pitchFamily="34" charset="-120"/>
              </a:rPr>
              <a:t>Rejected</a:t>
            </a:r>
            <a:endParaRPr lang="en-US" sz="1530" dirty="0"/>
          </a:p>
        </p:txBody>
      </p:sp>
      <p:sp>
        <p:nvSpPr>
          <p:cNvPr id="18" name="Shape 16"/>
          <p:cNvSpPr/>
          <p:nvPr/>
        </p:nvSpPr>
        <p:spPr>
          <a:xfrm>
            <a:off x="9957816" y="3520440"/>
            <a:ext cx="1133856" cy="320040"/>
          </a:xfrm>
          <a:prstGeom prst="roundRect">
            <a:avLst>
              <a:gd name="adj" fmla="val 37143"/>
            </a:avLst>
          </a:prstGeom>
          <a:solidFill>
            <a:srgbClr val="DDF7EB"/>
          </a:solidFill>
          <a:ln w="8890">
            <a:solidFill>
              <a:srgbClr val="DDF7EB">
                <a:alpha val="0"/>
              </a:srgbClr>
            </a:solidFill>
            <a:prstDash val="solid"/>
          </a:ln>
        </p:spPr>
      </p:sp>
      <p:sp>
        <p:nvSpPr>
          <p:cNvPr id="19" name="Text 17"/>
          <p:cNvSpPr/>
          <p:nvPr/>
        </p:nvSpPr>
        <p:spPr>
          <a:xfrm>
            <a:off x="10049256" y="3543300"/>
            <a:ext cx="950976" cy="237744"/>
          </a:xfrm>
          <a:prstGeom prst="rect">
            <a:avLst/>
          </a:prstGeom>
          <a:noFill/>
          <a:ln/>
        </p:spPr>
        <p:txBody>
          <a:bodyPr wrap="square" lIns="0" tIns="0" rIns="0" bIns="0" rtlCol="0" anchor="ctr">
            <a:normAutofit/>
          </a:bodyPr>
          <a:lstStyle/>
          <a:p>
            <a:pPr indent="0" marL="0">
              <a:buNone/>
            </a:pPr>
            <a:r>
              <a:rPr lang="en-US" sz="1050" b="1" spc="50" kern="0" dirty="0">
                <a:solidFill>
                  <a:srgbClr val="09896D"/>
                </a:solidFill>
                <a:latin typeface="Aptos" pitchFamily="34" charset="0"/>
                <a:ea typeface="Aptos" pitchFamily="34" charset="-122"/>
                <a:cs typeface="Aptos" pitchFamily="34" charset="-120"/>
              </a:rPr>
              <a:t>PASS</a:t>
            </a:r>
            <a:endParaRPr lang="en-US" sz="1050" dirty="0"/>
          </a:p>
        </p:txBody>
      </p:sp>
      <p:sp>
        <p:nvSpPr>
          <p:cNvPr id="20" name="Shape 18"/>
          <p:cNvSpPr/>
          <p:nvPr/>
        </p:nvSpPr>
        <p:spPr>
          <a:xfrm>
            <a:off x="731520" y="4069080"/>
            <a:ext cx="10716768" cy="493776"/>
          </a:xfrm>
          <a:prstGeom prst="roundRect">
            <a:avLst>
              <a:gd name="adj" fmla="val 18519"/>
            </a:avLst>
          </a:prstGeom>
          <a:solidFill>
            <a:srgbClr val="FFFFFF"/>
          </a:solidFill>
          <a:ln w="8890">
            <a:solidFill>
              <a:srgbClr val="D7E6E1"/>
            </a:solidFill>
            <a:prstDash val="solid"/>
          </a:ln>
        </p:spPr>
      </p:sp>
      <p:sp>
        <p:nvSpPr>
          <p:cNvPr id="21" name="Text 19"/>
          <p:cNvSpPr/>
          <p:nvPr/>
        </p:nvSpPr>
        <p:spPr>
          <a:xfrm>
            <a:off x="960120" y="4178808"/>
            <a:ext cx="4983480" cy="265176"/>
          </a:xfrm>
          <a:prstGeom prst="rect">
            <a:avLst/>
          </a:prstGeom>
          <a:noFill/>
          <a:ln/>
        </p:spPr>
        <p:txBody>
          <a:bodyPr wrap="square" lIns="0" tIns="0" rIns="0" bIns="0" rtlCol="0" anchor="ctr">
            <a:normAutofit/>
          </a:bodyPr>
          <a:lstStyle/>
          <a:p>
            <a:pPr indent="0" marL="0">
              <a:buNone/>
            </a:pPr>
            <a:r>
              <a:rPr lang="en-US" sz="1500" dirty="0">
                <a:solidFill>
                  <a:srgbClr val="153842"/>
                </a:solidFill>
                <a:latin typeface="Aptos" pitchFamily="34" charset="0"/>
                <a:ea typeface="Aptos" pitchFamily="34" charset="-122"/>
                <a:cs typeface="Aptos" pitchFamily="34" charset="-120"/>
              </a:rPr>
              <a:t>Invalid service "scan"</a:t>
            </a:r>
            <a:endParaRPr lang="en-US" sz="1500" dirty="0"/>
          </a:p>
        </p:txBody>
      </p:sp>
      <p:sp>
        <p:nvSpPr>
          <p:cNvPr id="22" name="Text 20"/>
          <p:cNvSpPr/>
          <p:nvPr/>
        </p:nvSpPr>
        <p:spPr>
          <a:xfrm>
            <a:off x="6163056" y="4178808"/>
            <a:ext cx="2926080" cy="274320"/>
          </a:xfrm>
          <a:prstGeom prst="rect">
            <a:avLst/>
          </a:prstGeom>
          <a:noFill/>
          <a:ln/>
        </p:spPr>
        <p:txBody>
          <a:bodyPr wrap="square" lIns="0" tIns="0" rIns="0" bIns="0" rtlCol="0" anchor="ctr">
            <a:normAutofit/>
          </a:bodyPr>
          <a:lstStyle/>
          <a:p>
            <a:pPr indent="0" marL="0">
              <a:buNone/>
            </a:pPr>
            <a:r>
              <a:rPr lang="en-US" sz="1530" b="1" dirty="0">
                <a:solidFill>
                  <a:srgbClr val="153842"/>
                </a:solidFill>
                <a:latin typeface="Aptos" pitchFamily="34" charset="0"/>
                <a:ea typeface="Aptos" pitchFamily="34" charset="-122"/>
                <a:cs typeface="Aptos" pitchFamily="34" charset="-120"/>
              </a:rPr>
              <a:t>Rejected</a:t>
            </a:r>
            <a:endParaRPr lang="en-US" sz="1530" dirty="0"/>
          </a:p>
        </p:txBody>
      </p:sp>
      <p:sp>
        <p:nvSpPr>
          <p:cNvPr id="23" name="Shape 21"/>
          <p:cNvSpPr/>
          <p:nvPr/>
        </p:nvSpPr>
        <p:spPr>
          <a:xfrm>
            <a:off x="9957816" y="4160520"/>
            <a:ext cx="1133856" cy="320040"/>
          </a:xfrm>
          <a:prstGeom prst="roundRect">
            <a:avLst>
              <a:gd name="adj" fmla="val 37143"/>
            </a:avLst>
          </a:prstGeom>
          <a:solidFill>
            <a:srgbClr val="DDF7EB"/>
          </a:solidFill>
          <a:ln w="8890">
            <a:solidFill>
              <a:srgbClr val="DDF7EB">
                <a:alpha val="0"/>
              </a:srgbClr>
            </a:solidFill>
            <a:prstDash val="solid"/>
          </a:ln>
        </p:spPr>
      </p:sp>
      <p:sp>
        <p:nvSpPr>
          <p:cNvPr id="24" name="Text 22"/>
          <p:cNvSpPr/>
          <p:nvPr/>
        </p:nvSpPr>
        <p:spPr>
          <a:xfrm>
            <a:off x="10049256" y="4183380"/>
            <a:ext cx="950976" cy="237744"/>
          </a:xfrm>
          <a:prstGeom prst="rect">
            <a:avLst/>
          </a:prstGeom>
          <a:noFill/>
          <a:ln/>
        </p:spPr>
        <p:txBody>
          <a:bodyPr wrap="square" lIns="0" tIns="0" rIns="0" bIns="0" rtlCol="0" anchor="ctr">
            <a:normAutofit/>
          </a:bodyPr>
          <a:lstStyle/>
          <a:p>
            <a:pPr indent="0" marL="0">
              <a:buNone/>
            </a:pPr>
            <a:r>
              <a:rPr lang="en-US" sz="1050" b="1" spc="50" kern="0" dirty="0">
                <a:solidFill>
                  <a:srgbClr val="09896D"/>
                </a:solidFill>
                <a:latin typeface="Aptos" pitchFamily="34" charset="0"/>
                <a:ea typeface="Aptos" pitchFamily="34" charset="-122"/>
                <a:cs typeface="Aptos" pitchFamily="34" charset="-120"/>
              </a:rPr>
              <a:t>PASS</a:t>
            </a:r>
            <a:endParaRPr lang="en-US" sz="1050" dirty="0"/>
          </a:p>
        </p:txBody>
      </p:sp>
      <p:sp>
        <p:nvSpPr>
          <p:cNvPr id="25" name="Shape 23"/>
          <p:cNvSpPr/>
          <p:nvPr/>
        </p:nvSpPr>
        <p:spPr>
          <a:xfrm>
            <a:off x="731520" y="4709160"/>
            <a:ext cx="10716768" cy="493776"/>
          </a:xfrm>
          <a:prstGeom prst="roundRect">
            <a:avLst>
              <a:gd name="adj" fmla="val 18519"/>
            </a:avLst>
          </a:prstGeom>
          <a:solidFill>
            <a:srgbClr val="FFFFFF"/>
          </a:solidFill>
          <a:ln w="8890">
            <a:solidFill>
              <a:srgbClr val="D7E6E1"/>
            </a:solidFill>
            <a:prstDash val="solid"/>
          </a:ln>
        </p:spPr>
      </p:sp>
      <p:sp>
        <p:nvSpPr>
          <p:cNvPr id="26" name="Text 24"/>
          <p:cNvSpPr/>
          <p:nvPr/>
        </p:nvSpPr>
        <p:spPr>
          <a:xfrm>
            <a:off x="960120" y="4818888"/>
            <a:ext cx="4983480" cy="265176"/>
          </a:xfrm>
          <a:prstGeom prst="rect">
            <a:avLst/>
          </a:prstGeom>
          <a:noFill/>
          <a:ln/>
        </p:spPr>
        <p:txBody>
          <a:bodyPr wrap="square" lIns="0" tIns="0" rIns="0" bIns="0" rtlCol="0" anchor="ctr">
            <a:normAutofit/>
          </a:bodyPr>
          <a:lstStyle/>
          <a:p>
            <a:pPr indent="0" marL="0">
              <a:buNone/>
            </a:pPr>
            <a:r>
              <a:rPr lang="en-US" sz="1500" dirty="0">
                <a:solidFill>
                  <a:srgbClr val="153842"/>
                </a:solidFill>
                <a:latin typeface="Aptos" pitchFamily="34" charset="0"/>
                <a:ea typeface="Aptos" pitchFamily="34" charset="-122"/>
                <a:cs typeface="Aptos" pitchFamily="34" charset="-120"/>
              </a:rPr>
              <a:t>Currency display</a:t>
            </a:r>
            <a:endParaRPr lang="en-US" sz="1500" dirty="0"/>
          </a:p>
        </p:txBody>
      </p:sp>
      <p:sp>
        <p:nvSpPr>
          <p:cNvPr id="27" name="Text 25"/>
          <p:cNvSpPr/>
          <p:nvPr/>
        </p:nvSpPr>
        <p:spPr>
          <a:xfrm>
            <a:off x="6163056" y="4818888"/>
            <a:ext cx="2926080" cy="274320"/>
          </a:xfrm>
          <a:prstGeom prst="rect">
            <a:avLst/>
          </a:prstGeom>
          <a:noFill/>
          <a:ln/>
        </p:spPr>
        <p:txBody>
          <a:bodyPr wrap="square" lIns="0" tIns="0" rIns="0" bIns="0" rtlCol="0" anchor="ctr">
            <a:normAutofit/>
          </a:bodyPr>
          <a:lstStyle/>
          <a:p>
            <a:pPr indent="0" marL="0">
              <a:buNone/>
            </a:pPr>
            <a:r>
              <a:rPr lang="en-US" sz="1530" b="1" dirty="0">
                <a:solidFill>
                  <a:srgbClr val="153842"/>
                </a:solidFill>
                <a:latin typeface="Aptos" pitchFamily="34" charset="0"/>
                <a:ea typeface="Aptos" pitchFamily="34" charset="-122"/>
                <a:cs typeface="Aptos" pitchFamily="34" charset="-120"/>
              </a:rPr>
              <a:t>₱1,234.00</a:t>
            </a:r>
            <a:endParaRPr lang="en-US" sz="1530" dirty="0"/>
          </a:p>
        </p:txBody>
      </p:sp>
      <p:sp>
        <p:nvSpPr>
          <p:cNvPr id="28" name="Shape 26"/>
          <p:cNvSpPr/>
          <p:nvPr/>
        </p:nvSpPr>
        <p:spPr>
          <a:xfrm>
            <a:off x="9957816" y="4800600"/>
            <a:ext cx="1133856" cy="320040"/>
          </a:xfrm>
          <a:prstGeom prst="roundRect">
            <a:avLst>
              <a:gd name="adj" fmla="val 37143"/>
            </a:avLst>
          </a:prstGeom>
          <a:solidFill>
            <a:srgbClr val="DDF7EB"/>
          </a:solidFill>
          <a:ln w="8890">
            <a:solidFill>
              <a:srgbClr val="DDF7EB">
                <a:alpha val="0"/>
              </a:srgbClr>
            </a:solidFill>
            <a:prstDash val="solid"/>
          </a:ln>
        </p:spPr>
      </p:sp>
      <p:sp>
        <p:nvSpPr>
          <p:cNvPr id="29" name="Text 27"/>
          <p:cNvSpPr/>
          <p:nvPr/>
        </p:nvSpPr>
        <p:spPr>
          <a:xfrm>
            <a:off x="10049256" y="4823460"/>
            <a:ext cx="950976" cy="237744"/>
          </a:xfrm>
          <a:prstGeom prst="rect">
            <a:avLst/>
          </a:prstGeom>
          <a:noFill/>
          <a:ln/>
        </p:spPr>
        <p:txBody>
          <a:bodyPr wrap="square" lIns="0" tIns="0" rIns="0" bIns="0" rtlCol="0" anchor="ctr">
            <a:normAutofit/>
          </a:bodyPr>
          <a:lstStyle/>
          <a:p>
            <a:pPr indent="0" marL="0">
              <a:buNone/>
            </a:pPr>
            <a:r>
              <a:rPr lang="en-US" sz="1050" b="1" spc="50" kern="0" dirty="0">
                <a:solidFill>
                  <a:srgbClr val="09896D"/>
                </a:solidFill>
                <a:latin typeface="Aptos" pitchFamily="34" charset="0"/>
                <a:ea typeface="Aptos" pitchFamily="34" charset="-122"/>
                <a:cs typeface="Aptos" pitchFamily="34" charset="-120"/>
              </a:rPr>
              <a:t>PASS</a:t>
            </a:r>
            <a:endParaRPr lang="en-US" sz="1050" dirty="0"/>
          </a:p>
        </p:txBody>
      </p:sp>
      <p:sp>
        <p:nvSpPr>
          <p:cNvPr id="30" name="Shape 28"/>
          <p:cNvSpPr/>
          <p:nvPr/>
        </p:nvSpPr>
        <p:spPr>
          <a:xfrm>
            <a:off x="740664" y="5513832"/>
            <a:ext cx="10707624" cy="612648"/>
          </a:xfrm>
          <a:prstGeom prst="roundRect">
            <a:avLst>
              <a:gd name="adj" fmla="val 20896"/>
            </a:avLst>
          </a:prstGeom>
          <a:solidFill>
            <a:srgbClr val="FFF2D8"/>
          </a:solidFill>
          <a:ln w="8890">
            <a:solidFill>
              <a:srgbClr val="FFF2D8">
                <a:alpha val="0"/>
              </a:srgbClr>
            </a:solidFill>
            <a:prstDash val="solid"/>
          </a:ln>
        </p:spPr>
      </p:sp>
      <p:sp>
        <p:nvSpPr>
          <p:cNvPr id="31" name="Text 29"/>
          <p:cNvSpPr/>
          <p:nvPr/>
        </p:nvSpPr>
        <p:spPr>
          <a:xfrm>
            <a:off x="932688" y="5687568"/>
            <a:ext cx="10241280" cy="265176"/>
          </a:xfrm>
          <a:prstGeom prst="rect">
            <a:avLst/>
          </a:prstGeom>
          <a:noFill/>
          <a:ln/>
        </p:spPr>
        <p:txBody>
          <a:bodyPr wrap="square" lIns="0" tIns="0" rIns="0" bIns="0" rtlCol="0" anchor="ctr">
            <a:normAutofit/>
          </a:bodyPr>
          <a:lstStyle/>
          <a:p>
            <a:pPr indent="0" marL="0">
              <a:buNone/>
            </a:pPr>
            <a:r>
              <a:rPr lang="en-US" sz="1350" b="1" dirty="0">
                <a:solidFill>
                  <a:srgbClr val="705B36"/>
                </a:solidFill>
                <a:latin typeface="Aptos" pitchFamily="34" charset="0"/>
                <a:ea typeface="Aptos" pitchFamily="34" charset="-122"/>
                <a:cs typeface="Aptos" pitchFamily="34" charset="-120"/>
              </a:rPr>
              <a:t>Scope note: tests cover Python business logic; browser PyScript must also be checked live on your computer.</a:t>
            </a:r>
            <a:endParaRPr lang="en-US" sz="1350" dirty="0"/>
          </a:p>
        </p:txBody>
      </p:sp>
      <p:sp>
        <p:nvSpPr>
          <p:cNvPr id="32" name="Shape 30"/>
          <p:cNvSpPr/>
          <p:nvPr/>
        </p:nvSpPr>
        <p:spPr>
          <a:xfrm>
            <a:off x="640080" y="6537960"/>
            <a:ext cx="10881360" cy="0"/>
          </a:xfrm>
          <a:prstGeom prst="line">
            <a:avLst/>
          </a:prstGeom>
          <a:noFill/>
          <a:ln w="12700">
            <a:solidFill>
              <a:srgbClr val="D7E6E1"/>
            </a:solidFill>
            <a:prstDash val="solid"/>
          </a:ln>
        </p:spPr>
      </p:sp>
      <p:sp>
        <p:nvSpPr>
          <p:cNvPr id="33" name="Text 31"/>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34" name="Text 32"/>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7"/>
        </a:solidFill>
      </p:bgPr>
    </p:bg>
    <p:spTree>
      <p:nvGrpSpPr>
        <p:cNvPr id="1" name=""/>
        <p:cNvGrpSpPr/>
        <p:nvPr/>
      </p:nvGrpSpPr>
      <p:grpSpPr>
        <a:xfrm>
          <a:off x="0" y="0"/>
          <a:ext cx="0" cy="0"/>
          <a:chOff x="0" y="0"/>
          <a:chExt cx="0" cy="0"/>
        </a:xfrm>
      </p:grpSpPr>
      <p:sp>
        <p:nvSpPr>
          <p:cNvPr id="2" name="Text 0"/>
          <p:cNvSpPr/>
          <p:nvPr/>
        </p:nvSpPr>
        <p:spPr>
          <a:xfrm>
            <a:off x="630936" y="347472"/>
            <a:ext cx="10698480" cy="256032"/>
          </a:xfrm>
          <a:prstGeom prst="rect">
            <a:avLst/>
          </a:prstGeom>
          <a:noFill/>
          <a:ln/>
        </p:spPr>
        <p:txBody>
          <a:bodyPr wrap="square" lIns="0" tIns="0" rIns="0" bIns="0" rtlCol="0" anchor="ctr">
            <a:normAutofit/>
          </a:bodyPr>
          <a:lstStyle/>
          <a:p>
            <a:pPr indent="0" marL="0">
              <a:buNone/>
            </a:pPr>
            <a:r>
              <a:rPr lang="en-US" sz="1050" b="1" spc="200" kern="0" dirty="0">
                <a:solidFill>
                  <a:srgbClr val="1AA485"/>
                </a:solidFill>
                <a:latin typeface="Aptos" pitchFamily="34" charset="0"/>
                <a:ea typeface="Aptos" pitchFamily="34" charset="-122"/>
                <a:cs typeface="Aptos" pitchFamily="34" charset="-120"/>
              </a:rPr>
              <a:t>INDIVIDUAL CONTRIBUTION EVIDENCE</a:t>
            </a:r>
            <a:endParaRPr lang="en-US" sz="1050" dirty="0"/>
          </a:p>
        </p:txBody>
      </p:sp>
      <p:sp>
        <p:nvSpPr>
          <p:cNvPr id="3" name="Text 1"/>
          <p:cNvSpPr/>
          <p:nvPr/>
        </p:nvSpPr>
        <p:spPr>
          <a:xfrm>
            <a:off x="630936" y="713232"/>
            <a:ext cx="10789920" cy="676656"/>
          </a:xfrm>
          <a:prstGeom prst="rect">
            <a:avLst/>
          </a:prstGeom>
          <a:noFill/>
          <a:ln/>
        </p:spPr>
        <p:txBody>
          <a:bodyPr wrap="square" lIns="0" tIns="0" rIns="0" bIns="0" rtlCol="0" anchor="ctr">
            <a:normAutofit/>
          </a:bodyPr>
          <a:lstStyle/>
          <a:p>
            <a:pPr indent="0" marL="0">
              <a:buNone/>
            </a:pPr>
            <a:r>
              <a:rPr lang="en-US" sz="3200" b="1" dirty="0">
                <a:solidFill>
                  <a:srgbClr val="153842"/>
                </a:solidFill>
                <a:latin typeface="Aptos" pitchFamily="34" charset="0"/>
                <a:ea typeface="Aptos" pitchFamily="34" charset="-122"/>
                <a:cs typeface="Aptos" pitchFamily="34" charset="-120"/>
              </a:rPr>
              <a:t>Two members, clear ownership</a:t>
            </a:r>
            <a:endParaRPr lang="en-US" sz="3200" dirty="0"/>
          </a:p>
        </p:txBody>
      </p:sp>
      <p:sp>
        <p:nvSpPr>
          <p:cNvPr id="4" name="Text 2"/>
          <p:cNvSpPr/>
          <p:nvPr/>
        </p:nvSpPr>
        <p:spPr>
          <a:xfrm>
            <a:off x="640080" y="1435608"/>
            <a:ext cx="10561320" cy="475488"/>
          </a:xfrm>
          <a:prstGeom prst="rect">
            <a:avLst/>
          </a:prstGeom>
          <a:noFill/>
          <a:ln/>
        </p:spPr>
        <p:txBody>
          <a:bodyPr wrap="square" lIns="0" tIns="0" rIns="0" bIns="0" rtlCol="0" anchor="ctr">
            <a:normAutofit/>
          </a:bodyPr>
          <a:lstStyle/>
          <a:p>
            <a:pPr indent="0" marL="0">
              <a:buNone/>
            </a:pPr>
            <a:r>
              <a:rPr lang="en-US" sz="1500" dirty="0">
                <a:solidFill>
                  <a:srgbClr val="627B80"/>
                </a:solidFill>
                <a:latin typeface="Aptos" pitchFamily="34" charset="0"/>
                <a:ea typeface="Aptos" pitchFamily="34" charset="-122"/>
                <a:cs typeface="Aptos" pitchFamily="34" charset="-120"/>
              </a:rPr>
              <a:t>The submission requires real GitHub contributions from every member.</a:t>
            </a:r>
            <a:endParaRPr lang="en-US" sz="1500" dirty="0"/>
          </a:p>
        </p:txBody>
      </p:sp>
      <p:sp>
        <p:nvSpPr>
          <p:cNvPr id="5" name="Shape 3"/>
          <p:cNvSpPr/>
          <p:nvPr/>
        </p:nvSpPr>
        <p:spPr>
          <a:xfrm>
            <a:off x="731520" y="2121408"/>
            <a:ext cx="5248656" cy="2542032"/>
          </a:xfrm>
          <a:prstGeom prst="roundRect">
            <a:avLst>
              <a:gd name="adj" fmla="val 7914"/>
            </a:avLst>
          </a:prstGeom>
          <a:solidFill>
            <a:srgbClr val="FFFFFF"/>
          </a:solidFill>
          <a:ln w="8890">
            <a:solidFill>
              <a:srgbClr val="D7E6E1"/>
            </a:solidFill>
            <a:prstDash val="solid"/>
          </a:ln>
        </p:spPr>
      </p:sp>
      <p:sp>
        <p:nvSpPr>
          <p:cNvPr id="6" name="Text 4"/>
          <p:cNvSpPr/>
          <p:nvPr/>
        </p:nvSpPr>
        <p:spPr>
          <a:xfrm>
            <a:off x="950976" y="2304288"/>
            <a:ext cx="4837176" cy="457200"/>
          </a:xfrm>
          <a:prstGeom prst="rect">
            <a:avLst/>
          </a:prstGeom>
          <a:noFill/>
          <a:ln/>
        </p:spPr>
        <p:txBody>
          <a:bodyPr wrap="square" lIns="0" tIns="0" rIns="0" bIns="0" rtlCol="0" anchor="ctr">
            <a:normAutofit/>
          </a:bodyPr>
          <a:lstStyle/>
          <a:p>
            <a:pPr indent="0" marL="0">
              <a:buNone/>
            </a:pPr>
            <a:r>
              <a:rPr lang="en-US" sz="2600" b="1" dirty="0">
                <a:solidFill>
                  <a:srgbClr val="22BE9B"/>
                </a:solidFill>
                <a:latin typeface="Aptos" pitchFamily="34" charset="0"/>
                <a:ea typeface="Aptos" pitchFamily="34" charset="-122"/>
                <a:cs typeface="Aptos" pitchFamily="34" charset="-120"/>
              </a:rPr>
              <a:t>01</a:t>
            </a:r>
            <a:endParaRPr lang="en-US" sz="2600" dirty="0"/>
          </a:p>
        </p:txBody>
      </p:sp>
      <p:sp>
        <p:nvSpPr>
          <p:cNvPr id="7" name="Text 5"/>
          <p:cNvSpPr/>
          <p:nvPr/>
        </p:nvSpPr>
        <p:spPr>
          <a:xfrm>
            <a:off x="950976" y="2916936"/>
            <a:ext cx="4809744" cy="457200"/>
          </a:xfrm>
          <a:prstGeom prst="rect">
            <a:avLst/>
          </a:prstGeom>
          <a:noFill/>
          <a:ln/>
        </p:spPr>
        <p:txBody>
          <a:bodyPr wrap="square" lIns="0" tIns="0" rIns="0" bIns="0" rtlCol="0" anchor="ctr">
            <a:normAutofit/>
          </a:bodyPr>
          <a:lstStyle/>
          <a:p>
            <a:pPr indent="0" marL="0">
              <a:buNone/>
            </a:pPr>
            <a:r>
              <a:rPr lang="en-US" sz="1900" b="1" dirty="0">
                <a:solidFill>
                  <a:srgbClr val="153842"/>
                </a:solidFill>
                <a:latin typeface="Aptos" pitchFamily="34" charset="0"/>
                <a:ea typeface="Aptos" pitchFamily="34" charset="-122"/>
                <a:cs typeface="Aptos" pitchFamily="34" charset="-120"/>
              </a:rPr>
              <a:t>Zianne B. Pontanar</a:t>
            </a:r>
            <a:endParaRPr lang="en-US" sz="1900" dirty="0"/>
          </a:p>
        </p:txBody>
      </p:sp>
      <p:sp>
        <p:nvSpPr>
          <p:cNvPr id="8" name="Text 6"/>
          <p:cNvSpPr/>
          <p:nvPr/>
        </p:nvSpPr>
        <p:spPr>
          <a:xfrm>
            <a:off x="950976" y="3429000"/>
            <a:ext cx="4809744" cy="1097280"/>
          </a:xfrm>
          <a:prstGeom prst="rect">
            <a:avLst/>
          </a:prstGeom>
          <a:noFill/>
          <a:ln/>
        </p:spPr>
        <p:txBody>
          <a:bodyPr wrap="square" lIns="0" tIns="0" rIns="0" bIns="0" rtlCol="0" anchor="t">
            <a:normAutofit/>
          </a:bodyPr>
          <a:lstStyle/>
          <a:p>
            <a:pPr indent="0" marL="0">
              <a:buNone/>
            </a:pPr>
            <a:r>
              <a:rPr lang="en-US" sz="1380" dirty="0">
                <a:solidFill>
                  <a:srgbClr val="627B80"/>
                </a:solidFill>
                <a:latin typeface="Aptos" pitchFamily="34" charset="0"/>
                <a:ea typeface="Aptos" pitchFamily="34" charset="-122"/>
                <a:cs typeface="Aptos" pitchFamily="34" charset="-120"/>
              </a:rPr>
              <a:t>Frontend pages, HTML structure, navigation, CSS, responsive design, founder profiles.</a:t>
            </a:r>
            <a:endParaRPr lang="en-US" sz="1380" dirty="0"/>
          </a:p>
        </p:txBody>
      </p:sp>
      <p:sp>
        <p:nvSpPr>
          <p:cNvPr id="9" name="Shape 7"/>
          <p:cNvSpPr/>
          <p:nvPr/>
        </p:nvSpPr>
        <p:spPr>
          <a:xfrm>
            <a:off x="6217920" y="2121408"/>
            <a:ext cx="5248656" cy="2542032"/>
          </a:xfrm>
          <a:prstGeom prst="roundRect">
            <a:avLst>
              <a:gd name="adj" fmla="val 7914"/>
            </a:avLst>
          </a:prstGeom>
          <a:solidFill>
            <a:srgbClr val="FFFFFF"/>
          </a:solidFill>
          <a:ln w="8890">
            <a:solidFill>
              <a:srgbClr val="D7E6E1"/>
            </a:solidFill>
            <a:prstDash val="solid"/>
          </a:ln>
        </p:spPr>
      </p:sp>
      <p:sp>
        <p:nvSpPr>
          <p:cNvPr id="10" name="Text 8"/>
          <p:cNvSpPr/>
          <p:nvPr/>
        </p:nvSpPr>
        <p:spPr>
          <a:xfrm>
            <a:off x="6437376" y="2304288"/>
            <a:ext cx="4837176" cy="457200"/>
          </a:xfrm>
          <a:prstGeom prst="rect">
            <a:avLst/>
          </a:prstGeom>
          <a:noFill/>
          <a:ln/>
        </p:spPr>
        <p:txBody>
          <a:bodyPr wrap="square" lIns="0" tIns="0" rIns="0" bIns="0" rtlCol="0" anchor="ctr">
            <a:normAutofit/>
          </a:bodyPr>
          <a:lstStyle/>
          <a:p>
            <a:pPr indent="0" marL="0">
              <a:buNone/>
            </a:pPr>
            <a:r>
              <a:rPr lang="en-US" sz="2600" b="1" dirty="0">
                <a:solidFill>
                  <a:srgbClr val="22BE9B"/>
                </a:solidFill>
                <a:latin typeface="Aptos" pitchFamily="34" charset="0"/>
                <a:ea typeface="Aptos" pitchFamily="34" charset="-122"/>
                <a:cs typeface="Aptos" pitchFamily="34" charset="-120"/>
              </a:rPr>
              <a:t>02</a:t>
            </a:r>
            <a:endParaRPr lang="en-US" sz="2600" dirty="0"/>
          </a:p>
        </p:txBody>
      </p:sp>
      <p:sp>
        <p:nvSpPr>
          <p:cNvPr id="11" name="Text 9"/>
          <p:cNvSpPr/>
          <p:nvPr/>
        </p:nvSpPr>
        <p:spPr>
          <a:xfrm>
            <a:off x="6437376" y="2916936"/>
            <a:ext cx="4809744" cy="457200"/>
          </a:xfrm>
          <a:prstGeom prst="rect">
            <a:avLst/>
          </a:prstGeom>
          <a:noFill/>
          <a:ln/>
        </p:spPr>
        <p:txBody>
          <a:bodyPr wrap="square" lIns="0" tIns="0" rIns="0" bIns="0" rtlCol="0" anchor="ctr">
            <a:normAutofit/>
          </a:bodyPr>
          <a:lstStyle/>
          <a:p>
            <a:pPr indent="0" marL="0">
              <a:buNone/>
            </a:pPr>
            <a:r>
              <a:rPr lang="en-US" sz="1900" b="1" dirty="0">
                <a:solidFill>
                  <a:srgbClr val="153842"/>
                </a:solidFill>
                <a:latin typeface="Aptos" pitchFamily="34" charset="0"/>
                <a:ea typeface="Aptos" pitchFamily="34" charset="-122"/>
                <a:cs typeface="Aptos" pitchFamily="34" charset="-120"/>
              </a:rPr>
              <a:t>Daniel D. Pacundo</a:t>
            </a:r>
            <a:endParaRPr lang="en-US" sz="1900" dirty="0"/>
          </a:p>
        </p:txBody>
      </p:sp>
      <p:sp>
        <p:nvSpPr>
          <p:cNvPr id="12" name="Text 10"/>
          <p:cNvSpPr/>
          <p:nvPr/>
        </p:nvSpPr>
        <p:spPr>
          <a:xfrm>
            <a:off x="6437376" y="3429000"/>
            <a:ext cx="4809744" cy="1097280"/>
          </a:xfrm>
          <a:prstGeom prst="rect">
            <a:avLst/>
          </a:prstGeom>
          <a:noFill/>
          <a:ln/>
        </p:spPr>
        <p:txBody>
          <a:bodyPr wrap="square" lIns="0" tIns="0" rIns="0" bIns="0" rtlCol="0" anchor="t">
            <a:normAutofit/>
          </a:bodyPr>
          <a:lstStyle/>
          <a:p>
            <a:pPr indent="0" marL="0">
              <a:buNone/>
            </a:pPr>
            <a:r>
              <a:rPr lang="en-US" sz="1380" dirty="0">
                <a:solidFill>
                  <a:srgbClr val="627B80"/>
                </a:solidFill>
                <a:latin typeface="Aptos" pitchFamily="34" charset="0"/>
                <a:ea typeface="Aptos" pitchFamily="34" charset="-122"/>
                <a:cs typeface="Aptos" pitchFamily="34" charset="-120"/>
              </a:rPr>
              <a:t>PyScript event handlers, quotation form, Python pricing module, unit tests.</a:t>
            </a:r>
            <a:endParaRPr lang="en-US" sz="1380" dirty="0"/>
          </a:p>
        </p:txBody>
      </p:sp>
      <p:sp>
        <p:nvSpPr>
          <p:cNvPr id="13" name="Shape 11"/>
          <p:cNvSpPr/>
          <p:nvPr/>
        </p:nvSpPr>
        <p:spPr>
          <a:xfrm>
            <a:off x="722376" y="5093208"/>
            <a:ext cx="10753344" cy="905256"/>
          </a:xfrm>
          <a:prstGeom prst="roundRect">
            <a:avLst>
              <a:gd name="adj" fmla="val 16162"/>
            </a:avLst>
          </a:prstGeom>
          <a:solidFill>
            <a:srgbClr val="FFF1D7"/>
          </a:solidFill>
          <a:ln w="8890">
            <a:solidFill>
              <a:srgbClr val="FFF1D7">
                <a:alpha val="0"/>
              </a:srgbClr>
            </a:solidFill>
            <a:prstDash val="solid"/>
          </a:ln>
        </p:spPr>
      </p:sp>
      <p:sp>
        <p:nvSpPr>
          <p:cNvPr id="14" name="Text 12"/>
          <p:cNvSpPr/>
          <p:nvPr/>
        </p:nvSpPr>
        <p:spPr>
          <a:xfrm>
            <a:off x="950976" y="5303520"/>
            <a:ext cx="10241280" cy="457200"/>
          </a:xfrm>
          <a:prstGeom prst="rect">
            <a:avLst/>
          </a:prstGeom>
          <a:noFill/>
          <a:ln/>
        </p:spPr>
        <p:txBody>
          <a:bodyPr wrap="square" lIns="0" tIns="0" rIns="0" bIns="0" rtlCol="0" anchor="ctr">
            <a:normAutofit/>
          </a:bodyPr>
          <a:lstStyle/>
          <a:p>
            <a:pPr indent="0" marL="0">
              <a:buNone/>
            </a:pPr>
            <a:r>
              <a:rPr lang="en-US" sz="1470" b="1" dirty="0">
                <a:solidFill>
                  <a:srgbClr val="6E5733"/>
                </a:solidFill>
                <a:latin typeface="Aptos" pitchFamily="34" charset="0"/>
                <a:ea typeface="Aptos" pitchFamily="34" charset="-122"/>
                <a:cs typeface="Aptos" pitchFamily="34" charset="-120"/>
              </a:rPr>
              <a:t>Before submission: create a PUBLIC repository, add both collaborators, make real commits from each account, and record a 10+ minute video. Do not fake commits.</a:t>
            </a:r>
            <a:endParaRPr lang="en-US" sz="1470" dirty="0"/>
          </a:p>
        </p:txBody>
      </p:sp>
      <p:sp>
        <p:nvSpPr>
          <p:cNvPr id="15" name="Shape 13"/>
          <p:cNvSpPr/>
          <p:nvPr/>
        </p:nvSpPr>
        <p:spPr>
          <a:xfrm>
            <a:off x="640080" y="6537960"/>
            <a:ext cx="10881360" cy="0"/>
          </a:xfrm>
          <a:prstGeom prst="line">
            <a:avLst/>
          </a:prstGeom>
          <a:noFill/>
          <a:ln w="12700">
            <a:solidFill>
              <a:srgbClr val="D7E6E1"/>
            </a:solidFill>
            <a:prstDash val="solid"/>
          </a:ln>
        </p:spPr>
      </p:sp>
      <p:sp>
        <p:nvSpPr>
          <p:cNvPr id="16" name="Text 14"/>
          <p:cNvSpPr/>
          <p:nvPr/>
        </p:nvSpPr>
        <p:spPr>
          <a:xfrm>
            <a:off x="640080" y="6601968"/>
            <a:ext cx="9144000" cy="146304"/>
          </a:xfrm>
          <a:prstGeom prst="rect">
            <a:avLst/>
          </a:prstGeom>
          <a:noFill/>
          <a:ln/>
        </p:spPr>
        <p:txBody>
          <a:bodyPr wrap="square" lIns="0" tIns="0" rIns="0" bIns="0" rtlCol="0" anchor="ctr">
            <a:normAutofit/>
          </a:bodyPr>
          <a:lstStyle/>
          <a:p>
            <a:pPr indent="0" marL="0">
              <a:buNone/>
            </a:pPr>
            <a:r>
              <a:rPr lang="en-US" sz="930" b="1" spc="60" kern="0" dirty="0">
                <a:solidFill>
                  <a:srgbClr val="627B80"/>
                </a:solidFill>
                <a:latin typeface="Aptos" pitchFamily="34" charset="0"/>
                <a:ea typeface="Aptos" pitchFamily="34" charset="-122"/>
                <a:cs typeface="Aptos" pitchFamily="34" charset="-120"/>
              </a:rPr>
              <a:t>PRINTCONNECT • EVENT-DRIVEN PROGRAMMING</a:t>
            </a:r>
            <a:endParaRPr lang="en-US" sz="930" dirty="0"/>
          </a:p>
        </p:txBody>
      </p:sp>
      <p:sp>
        <p:nvSpPr>
          <p:cNvPr id="17" name="Text 15"/>
          <p:cNvSpPr/>
          <p:nvPr/>
        </p:nvSpPr>
        <p:spPr>
          <a:xfrm>
            <a:off x="11183112" y="6583680"/>
            <a:ext cx="411480" cy="164592"/>
          </a:xfrm>
          <a:prstGeom prst="rect">
            <a:avLst/>
          </a:prstGeom>
          <a:noFill/>
          <a:ln/>
        </p:spPr>
        <p:txBody>
          <a:bodyPr wrap="square" lIns="0" tIns="0" rIns="0" bIns="0" rtlCol="0" anchor="ctr">
            <a:normAutofit/>
          </a:bodyPr>
          <a:lstStyle/>
          <a:p>
            <a:pPr algn="r" indent="0" marL="0">
              <a:buNone/>
            </a:pPr>
            <a:r>
              <a:rPr lang="en-US" sz="1050" b="1" dirty="0">
                <a:solidFill>
                  <a:srgbClr val="627B80"/>
                </a:solidFill>
                <a:latin typeface="Aptos" pitchFamily="34" charset="0"/>
                <a:ea typeface="Aptos" pitchFamily="34" charset="-122"/>
                <a:cs typeface="Aptos"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630"/>
        </a:solidFill>
      </p:bgPr>
    </p:bg>
    <p:spTree>
      <p:nvGrpSpPr>
        <p:cNvPr id="1" name=""/>
        <p:cNvGrpSpPr/>
        <p:nvPr/>
      </p:nvGrpSpPr>
      <p:grpSpPr>
        <a:xfrm>
          <a:off x="0" y="0"/>
          <a:ext cx="0" cy="0"/>
          <a:chOff x="0" y="0"/>
          <a:chExt cx="0" cy="0"/>
        </a:xfrm>
      </p:grpSpPr>
      <p:sp>
        <p:nvSpPr>
          <p:cNvPr id="2" name="Shape 0"/>
          <p:cNvSpPr/>
          <p:nvPr/>
        </p:nvSpPr>
        <p:spPr>
          <a:xfrm>
            <a:off x="7726680" y="-182880"/>
            <a:ext cx="4846320" cy="7223760"/>
          </a:xfrm>
          <a:prstGeom prst="rect">
            <a:avLst/>
          </a:prstGeom>
          <a:solidFill>
            <a:srgbClr val="17474B"/>
          </a:solidFill>
          <a:ln w="8890">
            <a:solidFill>
              <a:srgbClr val="17474B">
                <a:alpha val="0"/>
              </a:srgbClr>
            </a:solidFill>
            <a:prstDash val="solid"/>
          </a:ln>
        </p:spPr>
      </p:sp>
      <p:pic>
        <p:nvPicPr>
          <p:cNvPr id="3" name="Image 0" descr="/mnt/data/PrintConnect_EVD/presentation_assets/website_index.png">    </p:cNvPr>
          <p:cNvPicPr>
            <a:picLocks noChangeAspect="1"/>
          </p:cNvPicPr>
          <p:nvPr/>
        </p:nvPicPr>
        <p:blipFill>
          <a:blip r:embed="rId1"/>
          <a:stretch>
            <a:fillRect/>
          </a:stretch>
        </p:blipFill>
        <p:spPr>
          <a:xfrm>
            <a:off x="7808976" y="2011680"/>
            <a:ext cx="4114800" cy="2560320"/>
          </a:xfrm>
          <a:prstGeom prst="rect">
            <a:avLst/>
          </a:prstGeom>
        </p:spPr>
      </p:pic>
      <p:sp>
        <p:nvSpPr>
          <p:cNvPr id="4" name="Text 1"/>
          <p:cNvSpPr/>
          <p:nvPr/>
        </p:nvSpPr>
        <p:spPr>
          <a:xfrm>
            <a:off x="768096" y="859536"/>
            <a:ext cx="6492240" cy="329184"/>
          </a:xfrm>
          <a:prstGeom prst="rect">
            <a:avLst/>
          </a:prstGeom>
          <a:noFill/>
          <a:ln/>
        </p:spPr>
        <p:txBody>
          <a:bodyPr wrap="square" lIns="0" tIns="0" rIns="0" bIns="0" rtlCol="0" anchor="ctr">
            <a:normAutofit/>
          </a:bodyPr>
          <a:lstStyle/>
          <a:p>
            <a:pPr indent="0" marL="0">
              <a:buNone/>
            </a:pPr>
            <a:r>
              <a:rPr lang="en-US" sz="1400" b="1" spc="200" kern="0" dirty="0">
                <a:solidFill>
                  <a:srgbClr val="7CE8C8"/>
                </a:solidFill>
                <a:latin typeface="Aptos" pitchFamily="34" charset="0"/>
                <a:ea typeface="Aptos" pitchFamily="34" charset="-122"/>
                <a:cs typeface="Aptos" pitchFamily="34" charset="-120"/>
              </a:rPr>
              <a:t>THANK YOU</a:t>
            </a:r>
            <a:endParaRPr lang="en-US" sz="1400" dirty="0"/>
          </a:p>
        </p:txBody>
      </p:sp>
      <p:sp>
        <p:nvSpPr>
          <p:cNvPr id="5" name="Text 2"/>
          <p:cNvSpPr/>
          <p:nvPr/>
        </p:nvSpPr>
        <p:spPr>
          <a:xfrm>
            <a:off x="740664" y="1554480"/>
            <a:ext cx="7772400" cy="1984248"/>
          </a:xfrm>
          <a:prstGeom prst="rect">
            <a:avLst/>
          </a:prstGeom>
          <a:noFill/>
          <a:ln/>
        </p:spPr>
        <p:txBody>
          <a:bodyPr wrap="square" lIns="0" tIns="0" rIns="0" bIns="0" rtlCol="0" anchor="ctr">
            <a:normAutofit/>
          </a:bodyPr>
          <a:lstStyle/>
          <a:p>
            <a:pPr indent="0" marL="0">
              <a:buNone/>
            </a:pPr>
            <a:r>
              <a:rPr lang="en-US" sz="5200" b="1" dirty="0">
                <a:solidFill>
                  <a:srgbClr val="FFFFFF"/>
                </a:solidFill>
                <a:latin typeface="Aptos" pitchFamily="34" charset="0"/>
                <a:ea typeface="Aptos" pitchFamily="34" charset="-122"/>
                <a:cs typeface="Aptos" pitchFamily="34" charset="-120"/>
              </a:rPr>
              <a:t>Print smart.</a:t>
            </a:r>
            <a:endParaRPr lang="en-US" sz="5200" dirty="0"/>
          </a:p>
          <a:p>
            <a:pPr indent="0" marL="0">
              <a:buNone/>
            </a:pPr>
            <a:r>
              <a:rPr lang="en-US" sz="5200" b="1" dirty="0">
                <a:solidFill>
                  <a:srgbClr val="FFFFFF"/>
                </a:solidFill>
                <a:latin typeface="Aptos" pitchFamily="34" charset="0"/>
                <a:ea typeface="Aptos" pitchFamily="34" charset="-122"/>
                <a:cs typeface="Aptos" pitchFamily="34" charset="-120"/>
              </a:rPr>
              <a:t>Stay on campus.</a:t>
            </a:r>
            <a:endParaRPr lang="en-US" sz="5200" dirty="0"/>
          </a:p>
        </p:txBody>
      </p:sp>
      <p:sp>
        <p:nvSpPr>
          <p:cNvPr id="6" name="Text 3"/>
          <p:cNvSpPr/>
          <p:nvPr/>
        </p:nvSpPr>
        <p:spPr>
          <a:xfrm>
            <a:off x="768096" y="4242816"/>
            <a:ext cx="6903720" cy="438912"/>
          </a:xfrm>
          <a:prstGeom prst="rect">
            <a:avLst/>
          </a:prstGeom>
          <a:noFill/>
          <a:ln/>
        </p:spPr>
        <p:txBody>
          <a:bodyPr wrap="square" lIns="0" tIns="0" rIns="0" bIns="0" rtlCol="0" anchor="ctr">
            <a:normAutofit/>
          </a:bodyPr>
          <a:lstStyle/>
          <a:p>
            <a:pPr indent="0" marL="0">
              <a:buNone/>
            </a:pPr>
            <a:r>
              <a:rPr lang="en-US" sz="2000" dirty="0">
                <a:solidFill>
                  <a:srgbClr val="CAE4DC"/>
                </a:solidFill>
                <a:latin typeface="Aptos" pitchFamily="34" charset="0"/>
                <a:ea typeface="Aptos" pitchFamily="34" charset="-122"/>
                <a:cs typeface="Aptos" pitchFamily="34" charset="-120"/>
              </a:rPr>
              <a:t>PrintConnect • Cebu Eastern College</a:t>
            </a:r>
            <a:endParaRPr lang="en-US" sz="2000" dirty="0"/>
          </a:p>
        </p:txBody>
      </p:sp>
      <p:sp>
        <p:nvSpPr>
          <p:cNvPr id="7" name="Text 4"/>
          <p:cNvSpPr/>
          <p:nvPr/>
        </p:nvSpPr>
        <p:spPr>
          <a:xfrm>
            <a:off x="777240" y="5669280"/>
            <a:ext cx="7589520" cy="347472"/>
          </a:xfrm>
          <a:prstGeom prst="rect">
            <a:avLst/>
          </a:prstGeom>
          <a:noFill/>
          <a:ln/>
        </p:spPr>
        <p:txBody>
          <a:bodyPr wrap="square" lIns="0" tIns="0" rIns="0" bIns="0" rtlCol="0" anchor="ctr">
            <a:normAutofit/>
          </a:bodyPr>
          <a:lstStyle/>
          <a:p>
            <a:pPr indent="0" marL="0">
              <a:buNone/>
            </a:pPr>
            <a:r>
              <a:rPr lang="en-US" sz="1600" b="1" dirty="0">
                <a:solidFill>
                  <a:srgbClr val="7DE4C7"/>
                </a:solidFill>
                <a:latin typeface="Aptos" pitchFamily="34" charset="0"/>
                <a:ea typeface="Aptos" pitchFamily="34" charset="-122"/>
                <a:cs typeface="Aptos" pitchFamily="34" charset="-120"/>
              </a:rPr>
              <a:t>Zianne B. Pontanar  |  Daniel D. Pacundo</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Cebu Eastern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PrintConnect | Event-Driven Programming Final Project</dc:title>
  <dc:subject>Event-Driven Programming — PrintConnect website and member contributions</dc:subject>
  <dc:creator>PrintConnect Project Team</dc:creator>
  <cp:lastModifiedBy>PrintConnect Project Team</cp:lastModifiedBy>
  <cp:revision>1</cp:revision>
  <dcterms:created xsi:type="dcterms:W3CDTF">2026-10-23T11:30:44Z</dcterms:created>
  <dcterms:modified xsi:type="dcterms:W3CDTF">2026-10-23T11:30:44Z</dcterms:modified>
</cp:coreProperties>
</file>